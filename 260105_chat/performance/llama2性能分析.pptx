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9" r:id="rId2"/>
    <p:sldId id="258" r:id="rId3"/>
    <p:sldId id="257" r:id="rId4"/>
    <p:sldId id="261" r:id="rId5"/>
    <p:sldId id="260" r:id="rId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4" d="100"/>
          <a:sy n="104" d="100"/>
        </p:scale>
        <p:origin x="87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CBD547-0AB0-40FE-BBE2-33131B54FCF9}" type="datetimeFigureOut">
              <a:rPr lang="zh-CN" altLang="en-US" smtClean="0"/>
              <a:t>2026/1/13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CEF0A9-9832-4D4E-8D37-EAF90399C8CF}" type="slidenum">
              <a:rPr lang="zh-CN" altLang="en-US" smtClean="0"/>
              <a:t>‹#›</a:t>
            </a:fld>
            <a:endParaRPr lang="zh-CN" altLang="en-US"/>
          </a:p>
        </p:txBody>
      </p:sp>
    </p:spTree>
    <p:extLst>
      <p:ext uri="{BB962C8B-B14F-4D97-AF65-F5344CB8AC3E}">
        <p14:creationId xmlns:p14="http://schemas.microsoft.com/office/powerpoint/2010/main" val="7529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CEF0A9-9832-4D4E-8D37-EAF90399C8CF}" type="slidenum">
              <a:rPr lang="zh-CN" altLang="en-US" smtClean="0"/>
              <a:t>3</a:t>
            </a:fld>
            <a:endParaRPr lang="zh-CN" altLang="en-US"/>
          </a:p>
        </p:txBody>
      </p:sp>
    </p:spTree>
    <p:extLst>
      <p:ext uri="{BB962C8B-B14F-4D97-AF65-F5344CB8AC3E}">
        <p14:creationId xmlns:p14="http://schemas.microsoft.com/office/powerpoint/2010/main" val="3297112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8A3925-A403-FF20-0B3A-1CF95C35C410}"/>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DC8812B0-6059-3B21-AA5C-2C74882887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D3A4232-791F-01A9-460E-C318FF0AEB92}"/>
              </a:ext>
            </a:extLst>
          </p:cNvPr>
          <p:cNvSpPr>
            <a:spLocks noGrp="1"/>
          </p:cNvSpPr>
          <p:nvPr>
            <p:ph type="dt" sz="half" idx="10"/>
          </p:nvPr>
        </p:nvSpPr>
        <p:spPr/>
        <p:txBody>
          <a:bodyPr/>
          <a:lstStyle/>
          <a:p>
            <a:fld id="{052A76F1-C14B-4651-A78F-8851730E82BD}" type="datetimeFigureOut">
              <a:rPr lang="zh-CN" altLang="en-US" smtClean="0"/>
              <a:t>2026/1/13</a:t>
            </a:fld>
            <a:endParaRPr lang="zh-CN" altLang="en-US"/>
          </a:p>
        </p:txBody>
      </p:sp>
      <p:sp>
        <p:nvSpPr>
          <p:cNvPr id="5" name="页脚占位符 4">
            <a:extLst>
              <a:ext uri="{FF2B5EF4-FFF2-40B4-BE49-F238E27FC236}">
                <a16:creationId xmlns:a16="http://schemas.microsoft.com/office/drawing/2014/main" id="{348F1B2C-848A-E62A-4C19-E1F2056E8EA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35D53C3-6BEE-335A-7CAE-A61C6D708B98}"/>
              </a:ext>
            </a:extLst>
          </p:cNvPr>
          <p:cNvSpPr>
            <a:spLocks noGrp="1"/>
          </p:cNvSpPr>
          <p:nvPr>
            <p:ph type="sldNum" sz="quarter" idx="12"/>
          </p:nvPr>
        </p:nvSpPr>
        <p:spPr/>
        <p:txBody>
          <a:bodyPr/>
          <a:lstStyle/>
          <a:p>
            <a:fld id="{30CEDB0D-2352-46E7-9F52-8BC826567A65}" type="slidenum">
              <a:rPr lang="zh-CN" altLang="en-US" smtClean="0"/>
              <a:t>‹#›</a:t>
            </a:fld>
            <a:endParaRPr lang="zh-CN" altLang="en-US"/>
          </a:p>
        </p:txBody>
      </p:sp>
    </p:spTree>
    <p:extLst>
      <p:ext uri="{BB962C8B-B14F-4D97-AF65-F5344CB8AC3E}">
        <p14:creationId xmlns:p14="http://schemas.microsoft.com/office/powerpoint/2010/main" val="4049114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C29658-9C6F-6915-153F-F63398B8AFC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7D0002C-FC1A-9F0F-9DA7-84EB7A813B10}"/>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9BC0982-1F5C-B000-AAC2-9E56E38C014E}"/>
              </a:ext>
            </a:extLst>
          </p:cNvPr>
          <p:cNvSpPr>
            <a:spLocks noGrp="1"/>
          </p:cNvSpPr>
          <p:nvPr>
            <p:ph type="dt" sz="half" idx="10"/>
          </p:nvPr>
        </p:nvSpPr>
        <p:spPr/>
        <p:txBody>
          <a:bodyPr/>
          <a:lstStyle/>
          <a:p>
            <a:fld id="{052A76F1-C14B-4651-A78F-8851730E82BD}" type="datetimeFigureOut">
              <a:rPr lang="zh-CN" altLang="en-US" smtClean="0"/>
              <a:t>2026/1/13</a:t>
            </a:fld>
            <a:endParaRPr lang="zh-CN" altLang="en-US"/>
          </a:p>
        </p:txBody>
      </p:sp>
      <p:sp>
        <p:nvSpPr>
          <p:cNvPr id="5" name="页脚占位符 4">
            <a:extLst>
              <a:ext uri="{FF2B5EF4-FFF2-40B4-BE49-F238E27FC236}">
                <a16:creationId xmlns:a16="http://schemas.microsoft.com/office/drawing/2014/main" id="{ECABE7F6-65B9-8D4B-EF2E-294AF68EDCF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B417E77-9B11-2BA0-7FF5-ADAE9FB849D4}"/>
              </a:ext>
            </a:extLst>
          </p:cNvPr>
          <p:cNvSpPr>
            <a:spLocks noGrp="1"/>
          </p:cNvSpPr>
          <p:nvPr>
            <p:ph type="sldNum" sz="quarter" idx="12"/>
          </p:nvPr>
        </p:nvSpPr>
        <p:spPr/>
        <p:txBody>
          <a:bodyPr/>
          <a:lstStyle/>
          <a:p>
            <a:fld id="{30CEDB0D-2352-46E7-9F52-8BC826567A65}" type="slidenum">
              <a:rPr lang="zh-CN" altLang="en-US" smtClean="0"/>
              <a:t>‹#›</a:t>
            </a:fld>
            <a:endParaRPr lang="zh-CN" altLang="en-US"/>
          </a:p>
        </p:txBody>
      </p:sp>
    </p:spTree>
    <p:extLst>
      <p:ext uri="{BB962C8B-B14F-4D97-AF65-F5344CB8AC3E}">
        <p14:creationId xmlns:p14="http://schemas.microsoft.com/office/powerpoint/2010/main" val="3515489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4CB2F5-3319-B2C8-A58B-8B13749A2BE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2D05AAE-B42B-7F89-5792-18D4346453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932CAC5-5E1C-DAF9-CA27-28D219AF546E}"/>
              </a:ext>
            </a:extLst>
          </p:cNvPr>
          <p:cNvSpPr>
            <a:spLocks noGrp="1"/>
          </p:cNvSpPr>
          <p:nvPr>
            <p:ph type="dt" sz="half" idx="10"/>
          </p:nvPr>
        </p:nvSpPr>
        <p:spPr/>
        <p:txBody>
          <a:bodyPr/>
          <a:lstStyle/>
          <a:p>
            <a:fld id="{052A76F1-C14B-4651-A78F-8851730E82BD}" type="datetimeFigureOut">
              <a:rPr lang="zh-CN" altLang="en-US" smtClean="0"/>
              <a:t>2026/1/13</a:t>
            </a:fld>
            <a:endParaRPr lang="zh-CN" altLang="en-US"/>
          </a:p>
        </p:txBody>
      </p:sp>
      <p:sp>
        <p:nvSpPr>
          <p:cNvPr id="5" name="页脚占位符 4">
            <a:extLst>
              <a:ext uri="{FF2B5EF4-FFF2-40B4-BE49-F238E27FC236}">
                <a16:creationId xmlns:a16="http://schemas.microsoft.com/office/drawing/2014/main" id="{23F328DF-5A22-ECA1-AC90-3AF978B1AFE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F9D4E36-4B94-740C-5196-10792D693CE2}"/>
              </a:ext>
            </a:extLst>
          </p:cNvPr>
          <p:cNvSpPr>
            <a:spLocks noGrp="1"/>
          </p:cNvSpPr>
          <p:nvPr>
            <p:ph type="sldNum" sz="quarter" idx="12"/>
          </p:nvPr>
        </p:nvSpPr>
        <p:spPr/>
        <p:txBody>
          <a:bodyPr/>
          <a:lstStyle/>
          <a:p>
            <a:fld id="{30CEDB0D-2352-46E7-9F52-8BC826567A65}" type="slidenum">
              <a:rPr lang="zh-CN" altLang="en-US" smtClean="0"/>
              <a:t>‹#›</a:t>
            </a:fld>
            <a:endParaRPr lang="zh-CN" altLang="en-US"/>
          </a:p>
        </p:txBody>
      </p:sp>
    </p:spTree>
    <p:extLst>
      <p:ext uri="{BB962C8B-B14F-4D97-AF65-F5344CB8AC3E}">
        <p14:creationId xmlns:p14="http://schemas.microsoft.com/office/powerpoint/2010/main" val="698932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76E1A5-A3F7-E472-364B-32178C7D05E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C96F7DF-7CA2-1CA8-5D54-A9A9957715DC}"/>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7713CFE-977C-C49A-C1FC-89A3B1C20F1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29F174FA-05CE-3D15-DFCA-B3ACD4B64C4D}"/>
              </a:ext>
            </a:extLst>
          </p:cNvPr>
          <p:cNvSpPr>
            <a:spLocks noGrp="1"/>
          </p:cNvSpPr>
          <p:nvPr>
            <p:ph type="dt" sz="half" idx="10"/>
          </p:nvPr>
        </p:nvSpPr>
        <p:spPr/>
        <p:txBody>
          <a:bodyPr/>
          <a:lstStyle/>
          <a:p>
            <a:fld id="{052A76F1-C14B-4651-A78F-8851730E82BD}" type="datetimeFigureOut">
              <a:rPr lang="zh-CN" altLang="en-US" smtClean="0"/>
              <a:t>2026/1/13</a:t>
            </a:fld>
            <a:endParaRPr lang="zh-CN" altLang="en-US"/>
          </a:p>
        </p:txBody>
      </p:sp>
      <p:sp>
        <p:nvSpPr>
          <p:cNvPr id="6" name="页脚占位符 5">
            <a:extLst>
              <a:ext uri="{FF2B5EF4-FFF2-40B4-BE49-F238E27FC236}">
                <a16:creationId xmlns:a16="http://schemas.microsoft.com/office/drawing/2014/main" id="{CA533BF6-5D53-6442-62A0-1CD9D2E6FD6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D19E799-B460-03F7-F269-73DB4CA95220}"/>
              </a:ext>
            </a:extLst>
          </p:cNvPr>
          <p:cNvSpPr>
            <a:spLocks noGrp="1"/>
          </p:cNvSpPr>
          <p:nvPr>
            <p:ph type="sldNum" sz="quarter" idx="12"/>
          </p:nvPr>
        </p:nvSpPr>
        <p:spPr/>
        <p:txBody>
          <a:bodyPr/>
          <a:lstStyle/>
          <a:p>
            <a:fld id="{30CEDB0D-2352-46E7-9F52-8BC826567A65}" type="slidenum">
              <a:rPr lang="zh-CN" altLang="en-US" smtClean="0"/>
              <a:t>‹#›</a:t>
            </a:fld>
            <a:endParaRPr lang="zh-CN" altLang="en-US"/>
          </a:p>
        </p:txBody>
      </p:sp>
    </p:spTree>
    <p:extLst>
      <p:ext uri="{BB962C8B-B14F-4D97-AF65-F5344CB8AC3E}">
        <p14:creationId xmlns:p14="http://schemas.microsoft.com/office/powerpoint/2010/main" val="618032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7DF5DE-3AAB-7F85-528C-6155FC304F6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F8E3621-44C8-2D70-AA15-A8C46DB5CB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946BC32-897A-0678-999D-880F8728660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693046F-8446-9C66-9C2D-1D8E9AA2D4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EDF7F55-9305-786D-9ACF-8020A19D4CD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90C8283-8AA1-BC50-76FF-49A1181C6DC2}"/>
              </a:ext>
            </a:extLst>
          </p:cNvPr>
          <p:cNvSpPr>
            <a:spLocks noGrp="1"/>
          </p:cNvSpPr>
          <p:nvPr>
            <p:ph type="dt" sz="half" idx="10"/>
          </p:nvPr>
        </p:nvSpPr>
        <p:spPr/>
        <p:txBody>
          <a:bodyPr/>
          <a:lstStyle/>
          <a:p>
            <a:fld id="{052A76F1-C14B-4651-A78F-8851730E82BD}" type="datetimeFigureOut">
              <a:rPr lang="zh-CN" altLang="en-US" smtClean="0"/>
              <a:t>2026/1/13</a:t>
            </a:fld>
            <a:endParaRPr lang="zh-CN" altLang="en-US"/>
          </a:p>
        </p:txBody>
      </p:sp>
      <p:sp>
        <p:nvSpPr>
          <p:cNvPr id="8" name="页脚占位符 7">
            <a:extLst>
              <a:ext uri="{FF2B5EF4-FFF2-40B4-BE49-F238E27FC236}">
                <a16:creationId xmlns:a16="http://schemas.microsoft.com/office/drawing/2014/main" id="{D0684278-D07B-0176-EB55-36E1C0415A5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EFE63A15-DD92-61AB-96F7-0774BB6F56D6}"/>
              </a:ext>
            </a:extLst>
          </p:cNvPr>
          <p:cNvSpPr>
            <a:spLocks noGrp="1"/>
          </p:cNvSpPr>
          <p:nvPr>
            <p:ph type="sldNum" sz="quarter" idx="12"/>
          </p:nvPr>
        </p:nvSpPr>
        <p:spPr/>
        <p:txBody>
          <a:bodyPr/>
          <a:lstStyle/>
          <a:p>
            <a:fld id="{30CEDB0D-2352-46E7-9F52-8BC826567A65}" type="slidenum">
              <a:rPr lang="zh-CN" altLang="en-US" smtClean="0"/>
              <a:t>‹#›</a:t>
            </a:fld>
            <a:endParaRPr lang="zh-CN" altLang="en-US"/>
          </a:p>
        </p:txBody>
      </p:sp>
    </p:spTree>
    <p:extLst>
      <p:ext uri="{BB962C8B-B14F-4D97-AF65-F5344CB8AC3E}">
        <p14:creationId xmlns:p14="http://schemas.microsoft.com/office/powerpoint/2010/main" val="868895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0EEBF7-1693-A109-8C40-5990F568DC5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3222CF0-4688-237A-9125-FA546FCA1525}"/>
              </a:ext>
            </a:extLst>
          </p:cNvPr>
          <p:cNvSpPr>
            <a:spLocks noGrp="1"/>
          </p:cNvSpPr>
          <p:nvPr>
            <p:ph type="dt" sz="half" idx="10"/>
          </p:nvPr>
        </p:nvSpPr>
        <p:spPr/>
        <p:txBody>
          <a:bodyPr/>
          <a:lstStyle/>
          <a:p>
            <a:fld id="{052A76F1-C14B-4651-A78F-8851730E82BD}" type="datetimeFigureOut">
              <a:rPr lang="zh-CN" altLang="en-US" smtClean="0"/>
              <a:t>2026/1/13</a:t>
            </a:fld>
            <a:endParaRPr lang="zh-CN" altLang="en-US"/>
          </a:p>
        </p:txBody>
      </p:sp>
      <p:sp>
        <p:nvSpPr>
          <p:cNvPr id="4" name="页脚占位符 3">
            <a:extLst>
              <a:ext uri="{FF2B5EF4-FFF2-40B4-BE49-F238E27FC236}">
                <a16:creationId xmlns:a16="http://schemas.microsoft.com/office/drawing/2014/main" id="{501D3876-CEB3-22C5-3207-74D5009AFC27}"/>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E2B44F1-11CD-F5B6-B0A8-AB28627448CA}"/>
              </a:ext>
            </a:extLst>
          </p:cNvPr>
          <p:cNvSpPr>
            <a:spLocks noGrp="1"/>
          </p:cNvSpPr>
          <p:nvPr>
            <p:ph type="sldNum" sz="quarter" idx="12"/>
          </p:nvPr>
        </p:nvSpPr>
        <p:spPr/>
        <p:txBody>
          <a:bodyPr/>
          <a:lstStyle/>
          <a:p>
            <a:fld id="{30CEDB0D-2352-46E7-9F52-8BC826567A65}" type="slidenum">
              <a:rPr lang="zh-CN" altLang="en-US" smtClean="0"/>
              <a:t>‹#›</a:t>
            </a:fld>
            <a:endParaRPr lang="zh-CN" altLang="en-US"/>
          </a:p>
        </p:txBody>
      </p:sp>
    </p:spTree>
    <p:extLst>
      <p:ext uri="{BB962C8B-B14F-4D97-AF65-F5344CB8AC3E}">
        <p14:creationId xmlns:p14="http://schemas.microsoft.com/office/powerpoint/2010/main" val="1665562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674B4F9-E6A9-FB97-687C-CFFCFBCFAE1C}"/>
              </a:ext>
            </a:extLst>
          </p:cNvPr>
          <p:cNvSpPr>
            <a:spLocks noGrp="1"/>
          </p:cNvSpPr>
          <p:nvPr>
            <p:ph type="dt" sz="half" idx="10"/>
          </p:nvPr>
        </p:nvSpPr>
        <p:spPr/>
        <p:txBody>
          <a:bodyPr/>
          <a:lstStyle/>
          <a:p>
            <a:fld id="{052A76F1-C14B-4651-A78F-8851730E82BD}" type="datetimeFigureOut">
              <a:rPr lang="zh-CN" altLang="en-US" smtClean="0"/>
              <a:t>2026/1/13</a:t>
            </a:fld>
            <a:endParaRPr lang="zh-CN" altLang="en-US"/>
          </a:p>
        </p:txBody>
      </p:sp>
      <p:sp>
        <p:nvSpPr>
          <p:cNvPr id="3" name="页脚占位符 2">
            <a:extLst>
              <a:ext uri="{FF2B5EF4-FFF2-40B4-BE49-F238E27FC236}">
                <a16:creationId xmlns:a16="http://schemas.microsoft.com/office/drawing/2014/main" id="{3FE94DD0-3E1E-E091-B23E-C874EF6E87F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3F41988-8607-535F-996F-6F8353DE04A9}"/>
              </a:ext>
            </a:extLst>
          </p:cNvPr>
          <p:cNvSpPr>
            <a:spLocks noGrp="1"/>
          </p:cNvSpPr>
          <p:nvPr>
            <p:ph type="sldNum" sz="quarter" idx="12"/>
          </p:nvPr>
        </p:nvSpPr>
        <p:spPr/>
        <p:txBody>
          <a:bodyPr/>
          <a:lstStyle/>
          <a:p>
            <a:fld id="{30CEDB0D-2352-46E7-9F52-8BC826567A65}" type="slidenum">
              <a:rPr lang="zh-CN" altLang="en-US" smtClean="0"/>
              <a:t>‹#›</a:t>
            </a:fld>
            <a:endParaRPr lang="zh-CN" altLang="en-US"/>
          </a:p>
        </p:txBody>
      </p:sp>
    </p:spTree>
    <p:extLst>
      <p:ext uri="{BB962C8B-B14F-4D97-AF65-F5344CB8AC3E}">
        <p14:creationId xmlns:p14="http://schemas.microsoft.com/office/powerpoint/2010/main" val="3277895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D4F87A-DF8C-60E8-EA5D-0F922D91610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F591CDF-3C0B-512C-0045-E0DA7BEE16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4B62E80-52BA-91E5-99D8-7A21665EC3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334938C-C986-CDAE-3B60-10E56A5499EA}"/>
              </a:ext>
            </a:extLst>
          </p:cNvPr>
          <p:cNvSpPr>
            <a:spLocks noGrp="1"/>
          </p:cNvSpPr>
          <p:nvPr>
            <p:ph type="dt" sz="half" idx="10"/>
          </p:nvPr>
        </p:nvSpPr>
        <p:spPr/>
        <p:txBody>
          <a:bodyPr/>
          <a:lstStyle/>
          <a:p>
            <a:fld id="{052A76F1-C14B-4651-A78F-8851730E82BD}" type="datetimeFigureOut">
              <a:rPr lang="zh-CN" altLang="en-US" smtClean="0"/>
              <a:t>2026/1/13</a:t>
            </a:fld>
            <a:endParaRPr lang="zh-CN" altLang="en-US"/>
          </a:p>
        </p:txBody>
      </p:sp>
      <p:sp>
        <p:nvSpPr>
          <p:cNvPr id="6" name="页脚占位符 5">
            <a:extLst>
              <a:ext uri="{FF2B5EF4-FFF2-40B4-BE49-F238E27FC236}">
                <a16:creationId xmlns:a16="http://schemas.microsoft.com/office/drawing/2014/main" id="{01179C49-BAD5-7C62-9382-D00AEB34832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2F65D43-CCAA-1055-5606-0BE3A98585DC}"/>
              </a:ext>
            </a:extLst>
          </p:cNvPr>
          <p:cNvSpPr>
            <a:spLocks noGrp="1"/>
          </p:cNvSpPr>
          <p:nvPr>
            <p:ph type="sldNum" sz="quarter" idx="12"/>
          </p:nvPr>
        </p:nvSpPr>
        <p:spPr/>
        <p:txBody>
          <a:bodyPr/>
          <a:lstStyle/>
          <a:p>
            <a:fld id="{30CEDB0D-2352-46E7-9F52-8BC826567A65}" type="slidenum">
              <a:rPr lang="zh-CN" altLang="en-US" smtClean="0"/>
              <a:t>‹#›</a:t>
            </a:fld>
            <a:endParaRPr lang="zh-CN" altLang="en-US"/>
          </a:p>
        </p:txBody>
      </p:sp>
    </p:spTree>
    <p:extLst>
      <p:ext uri="{BB962C8B-B14F-4D97-AF65-F5344CB8AC3E}">
        <p14:creationId xmlns:p14="http://schemas.microsoft.com/office/powerpoint/2010/main" val="3180670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B355B4-301D-1475-0025-62405B846F4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332D518-FD85-7ACE-B720-732C713A20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78364D7-74C9-1440-63B6-B77440C54B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9B55D50-9657-6101-5558-0DB328E1A982}"/>
              </a:ext>
            </a:extLst>
          </p:cNvPr>
          <p:cNvSpPr>
            <a:spLocks noGrp="1"/>
          </p:cNvSpPr>
          <p:nvPr>
            <p:ph type="dt" sz="half" idx="10"/>
          </p:nvPr>
        </p:nvSpPr>
        <p:spPr/>
        <p:txBody>
          <a:bodyPr/>
          <a:lstStyle/>
          <a:p>
            <a:fld id="{052A76F1-C14B-4651-A78F-8851730E82BD}" type="datetimeFigureOut">
              <a:rPr lang="zh-CN" altLang="en-US" smtClean="0"/>
              <a:t>2026/1/13</a:t>
            </a:fld>
            <a:endParaRPr lang="zh-CN" altLang="en-US"/>
          </a:p>
        </p:txBody>
      </p:sp>
      <p:sp>
        <p:nvSpPr>
          <p:cNvPr id="6" name="页脚占位符 5">
            <a:extLst>
              <a:ext uri="{FF2B5EF4-FFF2-40B4-BE49-F238E27FC236}">
                <a16:creationId xmlns:a16="http://schemas.microsoft.com/office/drawing/2014/main" id="{5C681580-2A63-FB58-DE8B-703478733B8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532684B-D6A5-9F67-E28C-5AC50BAD805A}"/>
              </a:ext>
            </a:extLst>
          </p:cNvPr>
          <p:cNvSpPr>
            <a:spLocks noGrp="1"/>
          </p:cNvSpPr>
          <p:nvPr>
            <p:ph type="sldNum" sz="quarter" idx="12"/>
          </p:nvPr>
        </p:nvSpPr>
        <p:spPr/>
        <p:txBody>
          <a:bodyPr/>
          <a:lstStyle/>
          <a:p>
            <a:fld id="{30CEDB0D-2352-46E7-9F52-8BC826567A65}" type="slidenum">
              <a:rPr lang="zh-CN" altLang="en-US" smtClean="0"/>
              <a:t>‹#›</a:t>
            </a:fld>
            <a:endParaRPr lang="zh-CN" altLang="en-US"/>
          </a:p>
        </p:txBody>
      </p:sp>
    </p:spTree>
    <p:extLst>
      <p:ext uri="{BB962C8B-B14F-4D97-AF65-F5344CB8AC3E}">
        <p14:creationId xmlns:p14="http://schemas.microsoft.com/office/powerpoint/2010/main" val="12899300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6D3FAD-22D6-30EB-0446-7A5438E68DB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CD1AFD7-6AFA-CD79-9122-6B931FEB181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5A7DE7-B6B5-E0E8-B264-ADEA3A03EA23}"/>
              </a:ext>
            </a:extLst>
          </p:cNvPr>
          <p:cNvSpPr>
            <a:spLocks noGrp="1"/>
          </p:cNvSpPr>
          <p:nvPr>
            <p:ph type="dt" sz="half" idx="10"/>
          </p:nvPr>
        </p:nvSpPr>
        <p:spPr/>
        <p:txBody>
          <a:bodyPr/>
          <a:lstStyle/>
          <a:p>
            <a:fld id="{052A76F1-C14B-4651-A78F-8851730E82BD}" type="datetimeFigureOut">
              <a:rPr lang="zh-CN" altLang="en-US" smtClean="0"/>
              <a:t>2026/1/13</a:t>
            </a:fld>
            <a:endParaRPr lang="zh-CN" altLang="en-US"/>
          </a:p>
        </p:txBody>
      </p:sp>
      <p:sp>
        <p:nvSpPr>
          <p:cNvPr id="5" name="页脚占位符 4">
            <a:extLst>
              <a:ext uri="{FF2B5EF4-FFF2-40B4-BE49-F238E27FC236}">
                <a16:creationId xmlns:a16="http://schemas.microsoft.com/office/drawing/2014/main" id="{24FD99D8-64D7-E23A-4525-96FDCDEC7DC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CE96EF2-059E-AF07-9D9F-2A5F1438A349}"/>
              </a:ext>
            </a:extLst>
          </p:cNvPr>
          <p:cNvSpPr>
            <a:spLocks noGrp="1"/>
          </p:cNvSpPr>
          <p:nvPr>
            <p:ph type="sldNum" sz="quarter" idx="12"/>
          </p:nvPr>
        </p:nvSpPr>
        <p:spPr/>
        <p:txBody>
          <a:bodyPr/>
          <a:lstStyle/>
          <a:p>
            <a:fld id="{30CEDB0D-2352-46E7-9F52-8BC826567A65}" type="slidenum">
              <a:rPr lang="zh-CN" altLang="en-US" smtClean="0"/>
              <a:t>‹#›</a:t>
            </a:fld>
            <a:endParaRPr lang="zh-CN" altLang="en-US"/>
          </a:p>
        </p:txBody>
      </p:sp>
    </p:spTree>
    <p:extLst>
      <p:ext uri="{BB962C8B-B14F-4D97-AF65-F5344CB8AC3E}">
        <p14:creationId xmlns:p14="http://schemas.microsoft.com/office/powerpoint/2010/main" val="2049306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857B043-A0DB-5DD6-BA6B-26CDB2511DF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40B47D2-D619-2A6E-F300-6D7EAA32FB2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2E9A93B-7538-A58D-8A7B-9B3EDFF7E64D}"/>
              </a:ext>
            </a:extLst>
          </p:cNvPr>
          <p:cNvSpPr>
            <a:spLocks noGrp="1"/>
          </p:cNvSpPr>
          <p:nvPr>
            <p:ph type="dt" sz="half" idx="10"/>
          </p:nvPr>
        </p:nvSpPr>
        <p:spPr/>
        <p:txBody>
          <a:bodyPr/>
          <a:lstStyle/>
          <a:p>
            <a:fld id="{052A76F1-C14B-4651-A78F-8851730E82BD}" type="datetimeFigureOut">
              <a:rPr lang="zh-CN" altLang="en-US" smtClean="0"/>
              <a:t>2026/1/13</a:t>
            </a:fld>
            <a:endParaRPr lang="zh-CN" altLang="en-US"/>
          </a:p>
        </p:txBody>
      </p:sp>
      <p:sp>
        <p:nvSpPr>
          <p:cNvPr id="5" name="页脚占位符 4">
            <a:extLst>
              <a:ext uri="{FF2B5EF4-FFF2-40B4-BE49-F238E27FC236}">
                <a16:creationId xmlns:a16="http://schemas.microsoft.com/office/drawing/2014/main" id="{1817722C-C212-1493-ABE0-B381ED430E8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45B0862-AE4B-F054-92EB-F8CB733F7E9B}"/>
              </a:ext>
            </a:extLst>
          </p:cNvPr>
          <p:cNvSpPr>
            <a:spLocks noGrp="1"/>
          </p:cNvSpPr>
          <p:nvPr>
            <p:ph type="sldNum" sz="quarter" idx="12"/>
          </p:nvPr>
        </p:nvSpPr>
        <p:spPr/>
        <p:txBody>
          <a:bodyPr/>
          <a:lstStyle/>
          <a:p>
            <a:fld id="{30CEDB0D-2352-46E7-9F52-8BC826567A65}" type="slidenum">
              <a:rPr lang="zh-CN" altLang="en-US" smtClean="0"/>
              <a:t>‹#›</a:t>
            </a:fld>
            <a:endParaRPr lang="zh-CN" altLang="en-US"/>
          </a:p>
        </p:txBody>
      </p:sp>
    </p:spTree>
    <p:extLst>
      <p:ext uri="{BB962C8B-B14F-4D97-AF65-F5344CB8AC3E}">
        <p14:creationId xmlns:p14="http://schemas.microsoft.com/office/powerpoint/2010/main" val="78079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F9FD6C3-F62C-44F7-2F37-1AFD19F09B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ED0D315-7BFF-3F7B-9042-E7CE2576FD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F77FE20-77AC-C833-24E0-A7780B9F77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2A76F1-C14B-4651-A78F-8851730E82BD}" type="datetimeFigureOut">
              <a:rPr lang="zh-CN" altLang="en-US" smtClean="0"/>
              <a:t>2026/1/13</a:t>
            </a:fld>
            <a:endParaRPr lang="zh-CN" altLang="en-US"/>
          </a:p>
        </p:txBody>
      </p:sp>
      <p:sp>
        <p:nvSpPr>
          <p:cNvPr id="5" name="页脚占位符 4">
            <a:extLst>
              <a:ext uri="{FF2B5EF4-FFF2-40B4-BE49-F238E27FC236}">
                <a16:creationId xmlns:a16="http://schemas.microsoft.com/office/drawing/2014/main" id="{607AACD2-C233-9735-7ED0-FF36E891D5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45F4E05F-4E9E-C530-641E-5C20B97B98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CEDB0D-2352-46E7-9F52-8BC826567A65}" type="slidenum">
              <a:rPr lang="zh-CN" altLang="en-US" smtClean="0"/>
              <a:t>‹#›</a:t>
            </a:fld>
            <a:endParaRPr lang="zh-CN" altLang="en-US"/>
          </a:p>
        </p:txBody>
      </p:sp>
    </p:spTree>
    <p:extLst>
      <p:ext uri="{BB962C8B-B14F-4D97-AF65-F5344CB8AC3E}">
        <p14:creationId xmlns:p14="http://schemas.microsoft.com/office/powerpoint/2010/main" val="3553679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7.x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3">
                <a:extLst>
                  <a:ext uri="{FF2B5EF4-FFF2-40B4-BE49-F238E27FC236}">
                    <a16:creationId xmlns:a16="http://schemas.microsoft.com/office/drawing/2014/main" id="{40046B60-8B0B-2B9F-7F50-78DC8AF02140}"/>
                  </a:ext>
                </a:extLst>
              </p:cNvPr>
              <p:cNvSpPr txBox="1"/>
              <p:nvPr/>
            </p:nvSpPr>
            <p:spPr>
              <a:xfrm>
                <a:off x="117046" y="133354"/>
                <a:ext cx="6906708" cy="659129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2400" b="1" dirty="0"/>
                  <a:t>Prompt</a:t>
                </a:r>
                <a:r>
                  <a:rPr lang="zh-CN" altLang="en-US" sz="2400" b="1" dirty="0"/>
                  <a:t>流程</a:t>
                </a:r>
                <a:endParaRPr lang="en-US" altLang="zh-CN" sz="2400" b="1" dirty="0"/>
              </a:p>
              <a:p>
                <a:endParaRPr lang="en-US" altLang="zh-CN" dirty="0"/>
              </a:p>
              <a:p>
                <a:r>
                  <a:rPr lang="en-US" altLang="zh-CN" sz="1600" dirty="0"/>
                  <a:t>Prompt</a:t>
                </a:r>
                <a:r>
                  <a:rPr lang="zh-CN" altLang="en-US" sz="1600" dirty="0"/>
                  <a:t>示例：</a:t>
                </a:r>
                <a:endParaRPr lang="en-US" altLang="zh-CN" sz="1600" dirty="0"/>
              </a:p>
              <a:p>
                <a:pPr marL="800100" lvl="1" indent="-342900">
                  <a:buFont typeface="Wingdings" panose="05000000000000000000" pitchFamily="2" charset="2"/>
                  <a:buChar char="n"/>
                </a:pPr>
                <a:r>
                  <a:rPr lang="en-US" altLang="zh-CN" sz="1600" dirty="0"/>
                  <a:t>“</a:t>
                </a:r>
                <a:r>
                  <a:rPr lang="en-US" altLang="zh-CN" sz="1600" dirty="0" err="1"/>
                  <a:t>Hello,Who</a:t>
                </a:r>
                <a:r>
                  <a:rPr lang="en-US" altLang="zh-CN" sz="1600" dirty="0"/>
                  <a:t> are you?”</a:t>
                </a:r>
              </a:p>
              <a:p>
                <a:r>
                  <a:rPr lang="en-US" altLang="zh-CN" sz="1600" dirty="0"/>
                  <a:t>chat template</a:t>
                </a:r>
                <a:r>
                  <a:rPr lang="zh-CN" altLang="en-US" sz="1600" dirty="0"/>
                  <a:t>示例：结构化</a:t>
                </a:r>
                <a:endParaRPr lang="en-US" altLang="zh-CN" sz="1600" dirty="0"/>
              </a:p>
              <a:p>
                <a:pPr marL="800100" lvl="1" indent="-342900">
                  <a:buFont typeface="Wingdings" panose="05000000000000000000" pitchFamily="2" charset="2"/>
                  <a:buChar char="n"/>
                </a:pPr>
                <a:r>
                  <a:rPr lang="zh-CN" altLang="en-US" sz="1600" dirty="0"/>
                  <a:t> </a:t>
                </a:r>
                <a:r>
                  <a:rPr lang="en-US" altLang="zh-CN" sz="1600" dirty="0"/>
                  <a:t>[ { "</a:t>
                </a:r>
                <a:r>
                  <a:rPr lang="en-US" altLang="zh-CN" sz="1600" dirty="0" err="1"/>
                  <a:t>role":"user</a:t>
                </a:r>
                <a:r>
                  <a:rPr lang="en-US" altLang="zh-CN" sz="1600" dirty="0"/>
                  <a:t>", "content":"</a:t>
                </a:r>
                <a:r>
                  <a:rPr lang="en-US" altLang="zh-CN" sz="1600" dirty="0" err="1"/>
                  <a:t>Hello,Who</a:t>
                </a:r>
                <a:r>
                  <a:rPr lang="en-US" altLang="zh-CN" sz="1600" dirty="0"/>
                  <a:t> are you?" } ]</a:t>
                </a:r>
              </a:p>
              <a:p>
                <a:r>
                  <a:rPr lang="en-US" altLang="zh-CN" sz="1600" dirty="0" err="1"/>
                  <a:t>Prompt_token</a:t>
                </a:r>
                <a:r>
                  <a:rPr lang="zh-CN" altLang="en-US" sz="1600" dirty="0"/>
                  <a:t>示例：</a:t>
                </a:r>
                <a:r>
                  <a:rPr lang="en-US" altLang="zh-CN" sz="1600" dirty="0"/>
                  <a:t>token</a:t>
                </a:r>
                <a:r>
                  <a:rPr lang="zh-CN" altLang="en-US" sz="1600" dirty="0"/>
                  <a:t>的</a:t>
                </a:r>
                <a:r>
                  <a:rPr lang="en-US" altLang="zh-CN" sz="1600" dirty="0"/>
                  <a:t>id</a:t>
                </a:r>
                <a:r>
                  <a:rPr lang="zh-CN" altLang="en-US" sz="1600" dirty="0"/>
                  <a:t>号 </a:t>
                </a:r>
                <a:endParaRPr lang="en-US" altLang="zh-CN" sz="1600" dirty="0"/>
              </a:p>
              <a:p>
                <a:pPr marL="742950" lvl="1" indent="-285750">
                  <a:buFont typeface="Wingdings" panose="05000000000000000000" pitchFamily="2" charset="2"/>
                  <a:buChar char="n"/>
                </a:pPr>
                <a:r>
                  <a:rPr lang="en-US" altLang="zh-CN" sz="1600" dirty="0"/>
                  <a:t>       [1, 29871, 13, 1128, 318, 366, 703, 29901, 13, 13, 1302]</a:t>
                </a:r>
                <a:r>
                  <a:rPr lang="zh-CN" altLang="en-US" sz="1600" dirty="0"/>
                  <a:t>这些数字是模型词表中对应于格式化文本。</a:t>
                </a:r>
                <a:endParaRPr lang="en-US" altLang="zh-CN" sz="1600" dirty="0"/>
              </a:p>
              <a:p>
                <a:pPr marL="742950" lvl="1" indent="-285750">
                  <a:buFont typeface="Wingdings" panose="05000000000000000000" pitchFamily="2" charset="2"/>
                  <a:buChar char="n"/>
                </a:pPr>
                <a:r>
                  <a:rPr lang="zh-CN" altLang="en-US" sz="1600" dirty="0"/>
                  <a:t>以独热码形式存储</a:t>
                </a:r>
                <a:r>
                  <a:rPr lang="en-US" altLang="zh-CN" sz="1600" dirty="0"/>
                  <a:t>[q, </a:t>
                </a:r>
                <a:r>
                  <a:rPr lang="en-US" altLang="zh-CN" sz="1600" dirty="0" err="1"/>
                  <a:t>vocabsize</a:t>
                </a:r>
                <a:r>
                  <a:rPr lang="en-US" altLang="zh-CN" sz="1600" dirty="0"/>
                  <a:t>]  q</a:t>
                </a:r>
                <a:r>
                  <a:rPr lang="zh-CN" altLang="en-US" sz="1600" dirty="0"/>
                  <a:t>为</a:t>
                </a:r>
                <a:r>
                  <a:rPr lang="en-US" altLang="zh-CN" sz="1600" dirty="0"/>
                  <a:t>token</a:t>
                </a:r>
                <a:r>
                  <a:rPr lang="zh-CN" altLang="en-US" sz="1600" dirty="0"/>
                  <a:t>长度，</a:t>
                </a:r>
                <a:r>
                  <a:rPr lang="en-US" altLang="zh-CN" sz="1600" dirty="0" err="1"/>
                  <a:t>vocabsize</a:t>
                </a:r>
                <a:r>
                  <a:rPr lang="zh-CN" altLang="en-US" sz="1600" dirty="0"/>
                  <a:t>为词汇表的大小</a:t>
                </a:r>
                <a:r>
                  <a:rPr lang="en-US" altLang="zh-CN" sz="1600" dirty="0"/>
                  <a:t>,</a:t>
                </a:r>
                <a:r>
                  <a:rPr lang="zh-CN" altLang="en-US" sz="1600" dirty="0"/>
                  <a:t>例如：</a:t>
                </a:r>
                <a:r>
                  <a:rPr lang="en-US" altLang="zh-CN" sz="1600" dirty="0"/>
                  <a:t>[</a:t>
                </a:r>
                <a14:m>
                  <m:oMath xmlns:m="http://schemas.openxmlformats.org/officeDocument/2006/math">
                    <m:m>
                      <m:mPr>
                        <m:mcs>
                          <m:mc>
                            <m:mcPr>
                              <m:count m:val="3"/>
                              <m:mcJc m:val="center"/>
                            </m:mcPr>
                          </m:mc>
                        </m:mcs>
                        <m:ctrlPr>
                          <a:rPr lang="en-US" altLang="zh-CN" sz="1600" i="1" smtClean="0">
                            <a:latin typeface="Cambria Math" panose="02040503050406030204" pitchFamily="18" charset="0"/>
                          </a:rPr>
                        </m:ctrlPr>
                      </m:mPr>
                      <m:mr>
                        <m:e>
                          <m:r>
                            <m:rPr>
                              <m:brk m:alnAt="7"/>
                            </m:rPr>
                            <a:rPr lang="en-US" altLang="zh-CN" sz="1600" b="0" i="1" smtClean="0">
                              <a:latin typeface="Cambria Math" panose="02040503050406030204" pitchFamily="18" charset="0"/>
                            </a:rPr>
                            <m:t>0</m:t>
                          </m:r>
                        </m:e>
                        <m:e>
                          <m:r>
                            <a:rPr lang="en-US" altLang="zh-CN" sz="1600" b="0" i="1" smtClean="0">
                              <a:latin typeface="Cambria Math" panose="02040503050406030204" pitchFamily="18" charset="0"/>
                            </a:rPr>
                            <m:t>1</m:t>
                          </m:r>
                        </m:e>
                        <m:e>
                          <m:r>
                            <a:rPr lang="en-US" altLang="zh-CN" sz="1600" b="0" i="1" smtClean="0">
                              <a:latin typeface="Cambria Math" panose="02040503050406030204" pitchFamily="18" charset="0"/>
                            </a:rPr>
                            <m:t>0</m:t>
                          </m:r>
                        </m:e>
                      </m:mr>
                      <m:mr>
                        <m:e>
                          <m:r>
                            <a:rPr lang="en-US" altLang="zh-CN" sz="1600" b="0" i="1" smtClean="0">
                              <a:latin typeface="Cambria Math" panose="02040503050406030204" pitchFamily="18" charset="0"/>
                            </a:rPr>
                            <m:t>1</m:t>
                          </m:r>
                        </m:e>
                        <m:e>
                          <m:r>
                            <a:rPr lang="en-US" altLang="zh-CN" sz="1600" b="0" i="1" smtClean="0">
                              <a:latin typeface="Cambria Math" panose="02040503050406030204" pitchFamily="18" charset="0"/>
                            </a:rPr>
                            <m:t>0</m:t>
                          </m:r>
                        </m:e>
                        <m:e>
                          <m:r>
                            <a:rPr lang="en-US" altLang="zh-CN" sz="1600" b="0" i="1" smtClean="0">
                              <a:latin typeface="Cambria Math" panose="02040503050406030204" pitchFamily="18" charset="0"/>
                            </a:rPr>
                            <m:t>0</m:t>
                          </m:r>
                        </m:e>
                      </m:mr>
                      <m:mr>
                        <m:e>
                          <m:r>
                            <a:rPr lang="en-US" altLang="zh-CN" sz="1600" b="0" i="1" smtClean="0">
                              <a:latin typeface="Cambria Math" panose="02040503050406030204" pitchFamily="18" charset="0"/>
                            </a:rPr>
                            <m:t>0</m:t>
                          </m:r>
                        </m:e>
                        <m:e>
                          <m:r>
                            <a:rPr lang="en-US" altLang="zh-CN" sz="1600" b="0" i="1" smtClean="0">
                              <a:latin typeface="Cambria Math" panose="02040503050406030204" pitchFamily="18" charset="0"/>
                            </a:rPr>
                            <m:t>0</m:t>
                          </m:r>
                        </m:e>
                        <m:e>
                          <m:r>
                            <a:rPr lang="en-US" altLang="zh-CN" sz="1600" b="0" i="1" smtClean="0">
                              <a:latin typeface="Cambria Math" panose="02040503050406030204" pitchFamily="18" charset="0"/>
                            </a:rPr>
                            <m:t>1</m:t>
                          </m:r>
                        </m:e>
                      </m:mr>
                    </m:m>
                    <m:m>
                      <m:mPr>
                        <m:mcs>
                          <m:mc>
                            <m:mcPr>
                              <m:count m:val="2"/>
                              <m:mcJc m:val="center"/>
                            </m:mcPr>
                          </m:mc>
                        </m:mcs>
                        <m:ctrlPr>
                          <a:rPr lang="en-US" altLang="zh-CN" sz="1600" i="1" smtClean="0">
                            <a:latin typeface="Cambria Math" panose="02040503050406030204" pitchFamily="18" charset="0"/>
                          </a:rPr>
                        </m:ctrlPr>
                      </m:mPr>
                      <m:mr>
                        <m:e>
                          <m:r>
                            <m:rPr>
                              <m:brk m:alnAt="7"/>
                            </m:rPr>
                            <a:rPr lang="en-US" altLang="zh-CN" sz="1600" i="1" smtClean="0">
                              <a:latin typeface="Cambria Math" panose="02040503050406030204" pitchFamily="18" charset="0"/>
                            </a:rPr>
                            <m:t>…</m:t>
                          </m:r>
                        </m:e>
                        <m:e>
                          <m:r>
                            <a:rPr lang="en-US" altLang="zh-CN" sz="1600" b="0" i="1" smtClean="0">
                              <a:latin typeface="Cambria Math" panose="02040503050406030204" pitchFamily="18" charset="0"/>
                            </a:rPr>
                            <m:t>0</m:t>
                          </m:r>
                        </m:e>
                      </m:mr>
                      <m:mr>
                        <m:e>
                          <m:r>
                            <a:rPr lang="en-US" altLang="zh-CN" sz="1600" i="1" smtClean="0">
                              <a:latin typeface="Cambria Math" panose="02040503050406030204" pitchFamily="18" charset="0"/>
                            </a:rPr>
                            <m:t>…</m:t>
                          </m:r>
                        </m:e>
                        <m:e>
                          <m:r>
                            <a:rPr lang="en-US" altLang="zh-CN" sz="1600" b="0" i="1" smtClean="0">
                              <a:latin typeface="Cambria Math" panose="02040503050406030204" pitchFamily="18" charset="0"/>
                            </a:rPr>
                            <m:t>0</m:t>
                          </m:r>
                        </m:e>
                      </m:mr>
                      <m:mr>
                        <m:e>
                          <m:r>
                            <a:rPr lang="en-US" altLang="zh-CN" sz="1600" i="1" smtClean="0">
                              <a:latin typeface="Cambria Math" panose="02040503050406030204" pitchFamily="18" charset="0"/>
                            </a:rPr>
                            <m:t>…</m:t>
                          </m:r>
                        </m:e>
                        <m:e>
                          <m:r>
                            <a:rPr lang="en-US" altLang="zh-CN" sz="1600" b="0" i="1" smtClean="0">
                              <a:latin typeface="Cambria Math" panose="02040503050406030204" pitchFamily="18" charset="0"/>
                            </a:rPr>
                            <m:t>0</m:t>
                          </m:r>
                        </m:e>
                      </m:mr>
                    </m:m>
                    <m:r>
                      <a:rPr lang="en-US" altLang="zh-CN" sz="1600" b="0" i="1" smtClean="0">
                        <a:latin typeface="Cambria Math" panose="02040503050406030204" pitchFamily="18" charset="0"/>
                      </a:rPr>
                      <m:t>]</m:t>
                    </m:r>
                  </m:oMath>
                </a14:m>
                <a:endParaRPr lang="en-US" altLang="zh-CN" sz="1600" dirty="0"/>
              </a:p>
              <a:p>
                <a:r>
                  <a:rPr lang="en-US" altLang="zh-CN" sz="1600" dirty="0" err="1"/>
                  <a:t>Logist</a:t>
                </a:r>
                <a:r>
                  <a:rPr lang="zh-CN" altLang="en-US" sz="1600" dirty="0"/>
                  <a:t>：</a:t>
                </a:r>
                <a:endParaRPr lang="en-US" altLang="zh-CN" sz="1600" dirty="0"/>
              </a:p>
              <a:p>
                <a:pPr marL="742950" lvl="1" indent="-285750">
                  <a:buFont typeface="Wingdings" panose="05000000000000000000" pitchFamily="2" charset="2"/>
                  <a:buChar char="n"/>
                </a:pPr>
                <a:r>
                  <a:rPr lang="zh-CN" altLang="en-US" sz="1600" dirty="0"/>
                  <a:t>维度</a:t>
                </a:r>
                <a:r>
                  <a:rPr lang="en-US" altLang="zh-CN" sz="1600" dirty="0"/>
                  <a:t>[1, </a:t>
                </a:r>
                <a:r>
                  <a:rPr lang="en-US" altLang="zh-CN" sz="1600" dirty="0" err="1"/>
                  <a:t>vocabsize</a:t>
                </a:r>
                <a:r>
                  <a:rPr lang="en-US" altLang="zh-CN" sz="1600" dirty="0"/>
                  <a:t>] </a:t>
                </a:r>
                <a:r>
                  <a:rPr lang="en-US" altLang="zh-CN" sz="1600" dirty="0" err="1"/>
                  <a:t>vocabsize</a:t>
                </a:r>
                <a:r>
                  <a:rPr lang="zh-CN" altLang="en-US" sz="1600" dirty="0"/>
                  <a:t>为词汇表的大小</a:t>
                </a:r>
                <a:endParaRPr lang="en-US" altLang="zh-CN" sz="1600" dirty="0"/>
              </a:p>
              <a:p>
                <a:r>
                  <a:rPr lang="en-US" altLang="zh-CN" sz="1600" dirty="0" err="1"/>
                  <a:t>Next_token</a:t>
                </a:r>
                <a:r>
                  <a:rPr lang="en-US" altLang="zh-CN" sz="1600" dirty="0"/>
                  <a:t>:</a:t>
                </a:r>
              </a:p>
              <a:p>
                <a:pPr marL="742950" lvl="1" indent="-285750">
                  <a:buFont typeface="Wingdings" panose="05000000000000000000" pitchFamily="2" charset="2"/>
                  <a:buChar char="n"/>
                </a:pPr>
                <a:r>
                  <a:rPr lang="en-US" altLang="zh-CN" sz="1600" dirty="0" err="1"/>
                  <a:t>Vocabsize</a:t>
                </a:r>
                <a:r>
                  <a:rPr lang="zh-CN" altLang="en-US" sz="1600" dirty="0"/>
                  <a:t>中最有可能的词汇对应的</a:t>
                </a:r>
                <a:r>
                  <a:rPr lang="en-US" altLang="zh-CN" sz="1600" dirty="0"/>
                  <a:t>id</a:t>
                </a:r>
                <a:r>
                  <a:rPr lang="zh-CN" altLang="en-US" sz="1600" dirty="0"/>
                  <a:t>索引</a:t>
                </a:r>
                <a:endParaRPr lang="en-US" altLang="zh-CN" sz="1600" dirty="0"/>
              </a:p>
              <a:p>
                <a:endParaRPr lang="en-US" altLang="zh-CN" sz="1600" dirty="0"/>
              </a:p>
              <a:p>
                <a:r>
                  <a:rPr lang="zh-CN" altLang="en-US" sz="1600" dirty="0"/>
                  <a:t>自回归生成</a:t>
                </a:r>
                <a:r>
                  <a:rPr lang="en-US" altLang="zh-CN" sz="1600" dirty="0"/>
                  <a:t>(autoregressive generation)</a:t>
                </a:r>
                <a:r>
                  <a:rPr lang="zh-CN" altLang="en-US" sz="1600" dirty="0"/>
                  <a:t>：</a:t>
                </a:r>
                <a:endParaRPr lang="en-US" altLang="zh-CN" sz="1600" dirty="0"/>
              </a:p>
              <a:p>
                <a:pPr marL="800100" lvl="1" indent="-342900">
                  <a:buFont typeface="Wingdings" panose="05000000000000000000" pitchFamily="2" charset="2"/>
                  <a:buChar char="n"/>
                </a:pPr>
                <a:r>
                  <a:rPr lang="zh-CN" altLang="en-US" sz="1600" dirty="0"/>
                  <a:t>一次只预测一个 </a:t>
                </a:r>
                <a:r>
                  <a:rPr lang="en-US" altLang="zh-CN" sz="1600" dirty="0"/>
                  <a:t>token</a:t>
                </a:r>
                <a:r>
                  <a:rPr lang="zh-CN" altLang="en-US" sz="1600" dirty="0"/>
                  <a:t>，每次预测的 </a:t>
                </a:r>
                <a:r>
                  <a:rPr lang="en-US" altLang="zh-CN" sz="1600" dirty="0"/>
                  <a:t>token </a:t>
                </a:r>
                <a:r>
                  <a:rPr lang="zh-CN" altLang="en-US" sz="1600" dirty="0"/>
                  <a:t>都作为下一次的输入。</a:t>
                </a:r>
                <a:endParaRPr lang="en-US" altLang="zh-CN" sz="1600" dirty="0"/>
              </a:p>
              <a:p>
                <a:endParaRPr lang="en-US" altLang="zh-CN" sz="1600" dirty="0"/>
              </a:p>
              <a:p>
                <a:r>
                  <a:rPr lang="zh-CN" altLang="en-US" sz="1600" dirty="0"/>
                  <a:t>历史上下文：</a:t>
                </a:r>
                <a:endParaRPr lang="en-US" altLang="zh-CN" sz="1600" dirty="0"/>
              </a:p>
              <a:p>
                <a:pPr marL="800100" lvl="1" indent="-342900">
                  <a:buFont typeface="Wingdings" panose="05000000000000000000" pitchFamily="2" charset="2"/>
                  <a:buChar char="n"/>
                </a:pPr>
                <a:r>
                  <a:rPr lang="zh-CN" altLang="en-US" sz="1600" dirty="0"/>
                  <a:t>每次生成前的 </a:t>
                </a:r>
                <a:r>
                  <a:rPr lang="en-US" altLang="zh-CN" sz="1600" dirty="0"/>
                  <a:t>prompt </a:t>
                </a:r>
                <a:r>
                  <a:rPr lang="zh-CN" altLang="en-US" sz="1600" dirty="0"/>
                  <a:t>应包括所有历史上下文，因此生成的回答会被加回到</a:t>
                </a:r>
                <a:r>
                  <a:rPr lang="en-US" altLang="zh-CN" sz="1600" dirty="0"/>
                  <a:t>chat template</a:t>
                </a:r>
                <a:r>
                  <a:rPr lang="zh-CN" altLang="en-US" sz="1600" dirty="0"/>
                  <a:t>中作为历史上下文。</a:t>
                </a:r>
              </a:p>
              <a:p>
                <a:endParaRPr lang="en-US" altLang="zh-CN" dirty="0"/>
              </a:p>
            </p:txBody>
          </p:sp>
        </mc:Choice>
        <mc:Fallback xmlns="">
          <p:sp>
            <p:nvSpPr>
              <p:cNvPr id="2" name="文本框 3">
                <a:extLst>
                  <a:ext uri="{FF2B5EF4-FFF2-40B4-BE49-F238E27FC236}">
                    <a16:creationId xmlns:a16="http://schemas.microsoft.com/office/drawing/2014/main" id="{40046B60-8B0B-2B9F-7F50-78DC8AF02140}"/>
                  </a:ext>
                </a:extLst>
              </p:cNvPr>
              <p:cNvSpPr txBox="1">
                <a:spLocks noRot="1" noChangeAspect="1" noMove="1" noResize="1" noEditPoints="1" noAdjustHandles="1" noChangeArrowheads="1" noChangeShapeType="1" noTextEdit="1"/>
              </p:cNvSpPr>
              <p:nvPr/>
            </p:nvSpPr>
            <p:spPr>
              <a:xfrm>
                <a:off x="117046" y="133354"/>
                <a:ext cx="6906708" cy="6591292"/>
              </a:xfrm>
              <a:prstGeom prst="rect">
                <a:avLst/>
              </a:prstGeom>
              <a:blipFill>
                <a:blip r:embed="rId2"/>
                <a:stretch>
                  <a:fillRect l="-1324" t="-1018"/>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99C3A5E2-373F-40BE-2D8D-B1C35921BA03}"/>
              </a:ext>
            </a:extLst>
          </p:cNvPr>
          <p:cNvPicPr>
            <a:picLocks noChangeAspect="1"/>
          </p:cNvPicPr>
          <p:nvPr/>
        </p:nvPicPr>
        <p:blipFill>
          <a:blip r:embed="rId3"/>
          <a:stretch>
            <a:fillRect/>
          </a:stretch>
        </p:blipFill>
        <p:spPr>
          <a:xfrm>
            <a:off x="7023754" y="634413"/>
            <a:ext cx="5051200" cy="5362575"/>
          </a:xfrm>
          <a:prstGeom prst="rect">
            <a:avLst/>
          </a:prstGeom>
        </p:spPr>
      </p:pic>
    </p:spTree>
    <p:extLst>
      <p:ext uri="{BB962C8B-B14F-4D97-AF65-F5344CB8AC3E}">
        <p14:creationId xmlns:p14="http://schemas.microsoft.com/office/powerpoint/2010/main" val="1306172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AD4B8A1-5354-ADC4-7A7B-410AAB43E555}"/>
              </a:ext>
            </a:extLst>
          </p:cNvPr>
          <p:cNvPicPr>
            <a:picLocks noChangeAspect="1"/>
          </p:cNvPicPr>
          <p:nvPr/>
        </p:nvPicPr>
        <p:blipFill>
          <a:blip r:embed="rId2"/>
          <a:stretch>
            <a:fillRect/>
          </a:stretch>
        </p:blipFill>
        <p:spPr>
          <a:xfrm>
            <a:off x="990011" y="327875"/>
            <a:ext cx="1181100" cy="5429250"/>
          </a:xfrm>
          <a:prstGeom prst="rect">
            <a:avLst/>
          </a:prstGeom>
        </p:spPr>
      </p:pic>
      <p:sp>
        <p:nvSpPr>
          <p:cNvPr id="4" name="文本框 3">
            <a:extLst>
              <a:ext uri="{FF2B5EF4-FFF2-40B4-BE49-F238E27FC236}">
                <a16:creationId xmlns:a16="http://schemas.microsoft.com/office/drawing/2014/main" id="{7CFD7615-C2CF-62D8-3D50-86B8D43F217E}"/>
              </a:ext>
            </a:extLst>
          </p:cNvPr>
          <p:cNvSpPr txBox="1"/>
          <p:nvPr/>
        </p:nvSpPr>
        <p:spPr>
          <a:xfrm>
            <a:off x="635430" y="5746013"/>
            <a:ext cx="2045753" cy="369332"/>
          </a:xfrm>
          <a:prstGeom prst="rect">
            <a:avLst/>
          </a:prstGeom>
          <a:noFill/>
        </p:spPr>
        <p:txBody>
          <a:bodyPr wrap="none" rtlCol="0">
            <a:spAutoFit/>
          </a:bodyPr>
          <a:lstStyle/>
          <a:p>
            <a:r>
              <a:rPr lang="en-US" altLang="zh-CN" dirty="0"/>
              <a:t>Llama2 model</a:t>
            </a:r>
            <a:r>
              <a:rPr lang="zh-CN" altLang="en-US" dirty="0"/>
              <a:t>结构</a:t>
            </a:r>
          </a:p>
        </p:txBody>
      </p:sp>
      <p:pic>
        <p:nvPicPr>
          <p:cNvPr id="6" name="图片 5">
            <a:extLst>
              <a:ext uri="{FF2B5EF4-FFF2-40B4-BE49-F238E27FC236}">
                <a16:creationId xmlns:a16="http://schemas.microsoft.com/office/drawing/2014/main" id="{479F188E-3639-3238-70B2-2A96E64DD9B6}"/>
              </a:ext>
            </a:extLst>
          </p:cNvPr>
          <p:cNvPicPr>
            <a:picLocks noChangeAspect="1"/>
          </p:cNvPicPr>
          <p:nvPr/>
        </p:nvPicPr>
        <p:blipFill>
          <a:blip r:embed="rId3"/>
          <a:stretch>
            <a:fillRect/>
          </a:stretch>
        </p:blipFill>
        <p:spPr>
          <a:xfrm>
            <a:off x="4061568" y="163369"/>
            <a:ext cx="2553093" cy="6258624"/>
          </a:xfrm>
          <a:prstGeom prst="rect">
            <a:avLst/>
          </a:prstGeom>
        </p:spPr>
      </p:pic>
      <p:sp>
        <p:nvSpPr>
          <p:cNvPr id="7" name="文本框 6">
            <a:extLst>
              <a:ext uri="{FF2B5EF4-FFF2-40B4-BE49-F238E27FC236}">
                <a16:creationId xmlns:a16="http://schemas.microsoft.com/office/drawing/2014/main" id="{493AC749-B039-EC99-12EC-923B4C157AE7}"/>
              </a:ext>
            </a:extLst>
          </p:cNvPr>
          <p:cNvSpPr txBox="1"/>
          <p:nvPr/>
        </p:nvSpPr>
        <p:spPr>
          <a:xfrm>
            <a:off x="4520845" y="6421993"/>
            <a:ext cx="1985223" cy="369332"/>
          </a:xfrm>
          <a:prstGeom prst="rect">
            <a:avLst/>
          </a:prstGeom>
          <a:noFill/>
        </p:spPr>
        <p:txBody>
          <a:bodyPr wrap="none" rtlCol="0">
            <a:spAutoFit/>
          </a:bodyPr>
          <a:lstStyle/>
          <a:p>
            <a:r>
              <a:rPr lang="en-US" altLang="zh-CN" dirty="0"/>
              <a:t>Llama2 token</a:t>
            </a:r>
            <a:r>
              <a:rPr lang="zh-CN" altLang="en-US" dirty="0"/>
              <a:t>输出</a:t>
            </a:r>
          </a:p>
        </p:txBody>
      </p:sp>
      <p:sp>
        <p:nvSpPr>
          <p:cNvPr id="8" name="文本框 7">
            <a:extLst>
              <a:ext uri="{FF2B5EF4-FFF2-40B4-BE49-F238E27FC236}">
                <a16:creationId xmlns:a16="http://schemas.microsoft.com/office/drawing/2014/main" id="{20808309-AB25-4425-FC45-ACA3C33ACD8D}"/>
              </a:ext>
            </a:extLst>
          </p:cNvPr>
          <p:cNvSpPr txBox="1"/>
          <p:nvPr/>
        </p:nvSpPr>
        <p:spPr>
          <a:xfrm>
            <a:off x="7211321" y="163369"/>
            <a:ext cx="4609109" cy="923330"/>
          </a:xfrm>
          <a:prstGeom prst="rect">
            <a:avLst/>
          </a:prstGeom>
          <a:noFill/>
        </p:spPr>
        <p:txBody>
          <a:bodyPr wrap="square" rtlCol="0">
            <a:spAutoFit/>
          </a:bodyPr>
          <a:lstStyle/>
          <a:p>
            <a:r>
              <a:rPr lang="en-US" altLang="zh-CN" dirty="0"/>
              <a:t>Encode </a:t>
            </a:r>
            <a:r>
              <a:rPr lang="zh-CN" altLang="en-US" dirty="0"/>
              <a:t>是</a:t>
            </a:r>
            <a:r>
              <a:rPr lang="en-US" altLang="zh-CN" dirty="0"/>
              <a:t>prefill</a:t>
            </a:r>
            <a:r>
              <a:rPr lang="zh-CN" altLang="en-US" dirty="0"/>
              <a:t>阶段经过</a:t>
            </a:r>
            <a:r>
              <a:rPr lang="en-US" altLang="zh-CN" dirty="0"/>
              <a:t>tokenizer</a:t>
            </a:r>
          </a:p>
          <a:p>
            <a:r>
              <a:rPr lang="zh-CN" altLang="en-US" dirty="0"/>
              <a:t>生成</a:t>
            </a:r>
            <a:r>
              <a:rPr lang="en-US" altLang="zh-CN" dirty="0" err="1"/>
              <a:t>Prompt_token</a:t>
            </a:r>
            <a:r>
              <a:rPr lang="zh-CN" altLang="en-US" dirty="0"/>
              <a:t>的过程</a:t>
            </a:r>
            <a:endParaRPr lang="en-US" altLang="zh-CN" dirty="0"/>
          </a:p>
          <a:p>
            <a:endParaRPr lang="zh-CN" altLang="en-US" dirty="0"/>
          </a:p>
        </p:txBody>
      </p:sp>
      <p:pic>
        <p:nvPicPr>
          <p:cNvPr id="9" name="图片 8">
            <a:extLst>
              <a:ext uri="{FF2B5EF4-FFF2-40B4-BE49-F238E27FC236}">
                <a16:creationId xmlns:a16="http://schemas.microsoft.com/office/drawing/2014/main" id="{173429B0-378C-E2A4-813E-53653B7BD6C4}"/>
              </a:ext>
            </a:extLst>
          </p:cNvPr>
          <p:cNvPicPr>
            <a:picLocks noChangeAspect="1"/>
          </p:cNvPicPr>
          <p:nvPr/>
        </p:nvPicPr>
        <p:blipFill>
          <a:blip r:embed="rId4"/>
          <a:stretch>
            <a:fillRect/>
          </a:stretch>
        </p:blipFill>
        <p:spPr>
          <a:xfrm>
            <a:off x="6769230" y="1059418"/>
            <a:ext cx="5051200" cy="5362575"/>
          </a:xfrm>
          <a:prstGeom prst="rect">
            <a:avLst/>
          </a:prstGeom>
        </p:spPr>
      </p:pic>
    </p:spTree>
    <p:extLst>
      <p:ext uri="{BB962C8B-B14F-4D97-AF65-F5344CB8AC3E}">
        <p14:creationId xmlns:p14="http://schemas.microsoft.com/office/powerpoint/2010/main" val="3984374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7BE1F9C3-68D4-DD07-9F30-EDFA30A78FEF}"/>
              </a:ext>
            </a:extLst>
          </p:cNvPr>
          <p:cNvGraphicFramePr>
            <a:graphicFrameLocks noGrp="1"/>
          </p:cNvGraphicFramePr>
          <p:nvPr>
            <p:extLst>
              <p:ext uri="{D42A27DB-BD31-4B8C-83A1-F6EECF244321}">
                <p14:modId xmlns:p14="http://schemas.microsoft.com/office/powerpoint/2010/main" val="3471246413"/>
              </p:ext>
            </p:extLst>
          </p:nvPr>
        </p:nvGraphicFramePr>
        <p:xfrm>
          <a:off x="4854101" y="856961"/>
          <a:ext cx="4783425" cy="5766057"/>
        </p:xfrm>
        <a:graphic>
          <a:graphicData uri="http://schemas.openxmlformats.org/drawingml/2006/table">
            <a:tbl>
              <a:tblPr>
                <a:tableStyleId>{5C22544A-7EE6-4342-B048-85BDC9FD1C3A}</a:tableStyleId>
              </a:tblPr>
              <a:tblGrid>
                <a:gridCol w="1408616">
                  <a:extLst>
                    <a:ext uri="{9D8B030D-6E8A-4147-A177-3AD203B41FA5}">
                      <a16:colId xmlns:a16="http://schemas.microsoft.com/office/drawing/2014/main" val="868294316"/>
                    </a:ext>
                  </a:extLst>
                </a:gridCol>
                <a:gridCol w="1408616">
                  <a:extLst>
                    <a:ext uri="{9D8B030D-6E8A-4147-A177-3AD203B41FA5}">
                      <a16:colId xmlns:a16="http://schemas.microsoft.com/office/drawing/2014/main" val="2621051010"/>
                    </a:ext>
                  </a:extLst>
                </a:gridCol>
                <a:gridCol w="1966193">
                  <a:extLst>
                    <a:ext uri="{9D8B030D-6E8A-4147-A177-3AD203B41FA5}">
                      <a16:colId xmlns:a16="http://schemas.microsoft.com/office/drawing/2014/main" val="2117936018"/>
                    </a:ext>
                  </a:extLst>
                </a:gridCol>
              </a:tblGrid>
              <a:tr h="167995">
                <a:tc>
                  <a:txBody>
                    <a:bodyPr/>
                    <a:lstStyle/>
                    <a:p>
                      <a:pPr algn="ctr" fontAlgn="b">
                        <a:buNone/>
                      </a:pPr>
                      <a:r>
                        <a:rPr lang="en-US" sz="1100" b="1" u="none" strike="noStrike" dirty="0">
                          <a:effectLst/>
                        </a:rPr>
                        <a:t>Operation</a:t>
                      </a:r>
                      <a:endParaRPr lang="en-US" sz="1100" b="1" i="0" u="none" strike="noStrike" dirty="0">
                        <a:solidFill>
                          <a:srgbClr val="FFFFFF"/>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sz="1100" b="1" u="none" strike="noStrike" dirty="0">
                          <a:effectLst/>
                        </a:rPr>
                        <a:t>Avg(cycles)</a:t>
                      </a:r>
                      <a:endParaRPr lang="en-US" sz="1100" b="1" i="0" u="none" strike="noStrike" dirty="0">
                        <a:solidFill>
                          <a:srgbClr val="FFFFFF"/>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sz="1100" b="1" u="none" strike="noStrike" dirty="0">
                          <a:effectLst/>
                        </a:rPr>
                        <a:t>Proportion of Ops %</a:t>
                      </a:r>
                      <a:endParaRPr lang="en-US" sz="1100" b="1" i="0" u="none" strike="noStrike" dirty="0">
                        <a:solidFill>
                          <a:srgbClr val="FFFFFF"/>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3795274571"/>
                  </a:ext>
                </a:extLst>
              </a:tr>
              <a:tr h="167995">
                <a:tc>
                  <a:txBody>
                    <a:bodyPr/>
                    <a:lstStyle/>
                    <a:p>
                      <a:pPr algn="ctr" fontAlgn="b">
                        <a:buNone/>
                      </a:pPr>
                      <a:r>
                        <a:rPr lang="en-US" sz="1100" b="0" u="none" strike="noStrike" dirty="0" err="1">
                          <a:effectLst/>
                        </a:rPr>
                        <a:t>att_mask</a:t>
                      </a:r>
                      <a:endParaRPr lang="en-US"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184067.125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0.081924452</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1805102005"/>
                  </a:ext>
                </a:extLst>
              </a:tr>
              <a:tr h="167995">
                <a:tc>
                  <a:txBody>
                    <a:bodyPr/>
                    <a:lstStyle/>
                    <a:p>
                      <a:pPr algn="ctr" fontAlgn="b">
                        <a:buNone/>
                      </a:pPr>
                      <a:r>
                        <a:rPr lang="en-US" sz="1100" b="0" u="none" strike="noStrike" dirty="0" err="1">
                          <a:effectLst/>
                        </a:rPr>
                        <a:t>att_score</a:t>
                      </a:r>
                      <a:endParaRPr lang="en-US"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158602</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0.070590454</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605499728"/>
                  </a:ext>
                </a:extLst>
              </a:tr>
              <a:tr h="167995">
                <a:tc>
                  <a:txBody>
                    <a:bodyPr/>
                    <a:lstStyle/>
                    <a:p>
                      <a:pPr algn="ctr" fontAlgn="b">
                        <a:buNone/>
                      </a:pPr>
                      <a:r>
                        <a:rPr lang="en-US" sz="1100" b="0" u="none" strike="noStrike">
                          <a:effectLst/>
                        </a:rPr>
                        <a:t>att_softmax</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15847.125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0.007053226</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1965337360"/>
                  </a:ext>
                </a:extLst>
              </a:tr>
              <a:tr h="167995">
                <a:tc>
                  <a:txBody>
                    <a:bodyPr/>
                    <a:lstStyle/>
                    <a:p>
                      <a:pPr algn="ctr" fontAlgn="b">
                        <a:buNone/>
                      </a:pPr>
                      <a:r>
                        <a:rPr lang="en-US" sz="1100" b="0" u="none" strike="noStrike">
                          <a:effectLst/>
                        </a:rPr>
                        <a:t>att_val</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279493.375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0.124396693</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584955424"/>
                  </a:ext>
                </a:extLst>
              </a:tr>
              <a:tr h="167995">
                <a:tc>
                  <a:txBody>
                    <a:bodyPr/>
                    <a:lstStyle/>
                    <a:p>
                      <a:pPr algn="ctr" fontAlgn="b">
                        <a:buNone/>
                      </a:pPr>
                      <a:r>
                        <a:rPr lang="en-US" sz="1100" b="0" u="none" strike="noStrike">
                          <a:effectLst/>
                        </a:rPr>
                        <a:t>decode</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245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0.000109044</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3058770360"/>
                  </a:ext>
                </a:extLst>
              </a:tr>
              <a:tr h="167995">
                <a:tc>
                  <a:txBody>
                    <a:bodyPr/>
                    <a:lstStyle/>
                    <a:p>
                      <a:pPr algn="ctr" fontAlgn="b">
                        <a:buNone/>
                      </a:pPr>
                      <a:r>
                        <a:rPr lang="en-US" sz="1100" b="0" u="none" strike="noStrike">
                          <a:effectLst/>
                        </a:rPr>
                        <a:t>encode</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10584272.88</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4.710839885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1980610402"/>
                  </a:ext>
                </a:extLst>
              </a:tr>
              <a:tr h="167995">
                <a:tc>
                  <a:txBody>
                    <a:bodyPr/>
                    <a:lstStyle/>
                    <a:p>
                      <a:pPr algn="ctr" fontAlgn="b">
                        <a:buNone/>
                      </a:pPr>
                      <a:r>
                        <a:rPr lang="en-US" sz="1100" b="0" u="none" strike="noStrike">
                          <a:effectLst/>
                        </a:rPr>
                        <a:t>memcpy_embed</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13037.125</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0.005802553</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1777458598"/>
                  </a:ext>
                </a:extLst>
              </a:tr>
              <a:tr h="167995">
                <a:tc>
                  <a:txBody>
                    <a:bodyPr/>
                    <a:lstStyle/>
                    <a:p>
                      <a:pPr algn="ctr" fontAlgn="b">
                        <a:buNone/>
                      </a:pPr>
                      <a:r>
                        <a:rPr lang="en-US" sz="1100" b="0" u="none" strike="noStrike">
                          <a:effectLst/>
                        </a:rPr>
                        <a:t>memcpy_k</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60580.25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0.02696301</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2409798222"/>
                  </a:ext>
                </a:extLst>
              </a:tr>
              <a:tr h="167995">
                <a:tc>
                  <a:txBody>
                    <a:bodyPr/>
                    <a:lstStyle/>
                    <a:p>
                      <a:pPr algn="ctr" fontAlgn="b">
                        <a:buNone/>
                      </a:pPr>
                      <a:r>
                        <a:rPr lang="en-US" sz="1100" b="0" u="none" strike="noStrike">
                          <a:effectLst/>
                        </a:rPr>
                        <a:t>memcpy_v</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77846.125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0.034647692</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1255412352"/>
                  </a:ext>
                </a:extLst>
              </a:tr>
              <a:tr h="167995">
                <a:tc>
                  <a:txBody>
                    <a:bodyPr/>
                    <a:lstStyle/>
                    <a:p>
                      <a:pPr algn="ctr" fontAlgn="b">
                        <a:buNone/>
                      </a:pPr>
                      <a:r>
                        <a:rPr lang="en-US" sz="1100" b="0" u="none" strike="noStrike">
                          <a:effectLst/>
                        </a:rPr>
                        <a:t>print</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15261</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0.006792354</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2920050978"/>
                  </a:ext>
                </a:extLst>
              </a:tr>
              <a:tr h="167995">
                <a:tc>
                  <a:txBody>
                    <a:bodyPr/>
                    <a:lstStyle/>
                    <a:p>
                      <a:pPr algn="ctr" fontAlgn="b">
                        <a:buNone/>
                      </a:pPr>
                      <a:r>
                        <a:rPr lang="en-US" sz="1100" b="0" u="none" strike="noStrike">
                          <a:effectLst/>
                        </a:rPr>
                        <a:t>quantize1</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91045.25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0.040522349</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133311450"/>
                  </a:ext>
                </a:extLst>
              </a:tr>
              <a:tr h="167995">
                <a:tc>
                  <a:txBody>
                    <a:bodyPr/>
                    <a:lstStyle/>
                    <a:p>
                      <a:pPr algn="ctr" fontAlgn="b">
                        <a:buNone/>
                      </a:pPr>
                      <a:r>
                        <a:rPr lang="en-US" sz="1100" b="0" u="none" strike="noStrike">
                          <a:effectLst/>
                        </a:rPr>
                        <a:t>quantize2</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91489.5</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0.040720075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3611379075"/>
                  </a:ext>
                </a:extLst>
              </a:tr>
              <a:tr h="167995">
                <a:tc>
                  <a:txBody>
                    <a:bodyPr/>
                    <a:lstStyle/>
                    <a:p>
                      <a:pPr algn="ctr" fontAlgn="b">
                        <a:buNone/>
                      </a:pPr>
                      <a:r>
                        <a:rPr lang="en-US" sz="1100" b="0" u="none" strike="noStrike">
                          <a:effectLst/>
                        </a:rPr>
                        <a:t>quantize3</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106979.375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0.047614296</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2914858195"/>
                  </a:ext>
                </a:extLst>
              </a:tr>
              <a:tr h="167995">
                <a:tc>
                  <a:txBody>
                    <a:bodyPr/>
                    <a:lstStyle/>
                    <a:p>
                      <a:pPr algn="ctr" fontAlgn="b">
                        <a:buNone/>
                      </a:pPr>
                      <a:r>
                        <a:rPr lang="en-US" sz="1100" b="0" u="none" strike="noStrike">
                          <a:effectLst/>
                        </a:rPr>
                        <a:t>quantize4</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234311.875</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0.104287346</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4055138594"/>
                  </a:ext>
                </a:extLst>
              </a:tr>
              <a:tr h="167995">
                <a:tc>
                  <a:txBody>
                    <a:bodyPr/>
                    <a:lstStyle/>
                    <a:p>
                      <a:pPr algn="ctr" fontAlgn="b">
                        <a:buNone/>
                      </a:pPr>
                      <a:r>
                        <a:rPr lang="en-US" sz="1100" b="0" u="none" strike="noStrike">
                          <a:effectLst/>
                        </a:rPr>
                        <a:t>quantize_final</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14414.625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0.00641565</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4200544121"/>
                  </a:ext>
                </a:extLst>
              </a:tr>
              <a:tr h="167995">
                <a:tc>
                  <a:txBody>
                    <a:bodyPr/>
                    <a:lstStyle/>
                    <a:p>
                      <a:pPr algn="ctr" fontAlgn="b">
                        <a:buNone/>
                      </a:pPr>
                      <a:r>
                        <a:rPr lang="en-US" sz="1100" b="0" u="none" strike="noStrike">
                          <a:effectLst/>
                        </a:rPr>
                        <a:t>resid1</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69943.75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0.031130509</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1644003319"/>
                  </a:ext>
                </a:extLst>
              </a:tr>
              <a:tr h="167995">
                <a:tc>
                  <a:txBody>
                    <a:bodyPr/>
                    <a:lstStyle/>
                    <a:p>
                      <a:pPr algn="ctr" fontAlgn="b">
                        <a:buNone/>
                      </a:pPr>
                      <a:r>
                        <a:rPr lang="en-US" sz="1100" b="0" u="none" strike="noStrike">
                          <a:effectLst/>
                        </a:rPr>
                        <a:t>resid2</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70030</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0.031168898</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3918902991"/>
                  </a:ext>
                </a:extLst>
              </a:tr>
              <a:tr h="167995">
                <a:tc>
                  <a:txBody>
                    <a:bodyPr/>
                    <a:lstStyle/>
                    <a:p>
                      <a:pPr algn="ctr" fontAlgn="b">
                        <a:buNone/>
                      </a:pPr>
                      <a:r>
                        <a:rPr lang="en-US" sz="1100" b="0" u="none" strike="noStrike">
                          <a:effectLst/>
                        </a:rPr>
                        <a:t>rmsnorm1</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72143.875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0.032109739</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3131317528"/>
                  </a:ext>
                </a:extLst>
              </a:tr>
              <a:tr h="167995">
                <a:tc>
                  <a:txBody>
                    <a:bodyPr/>
                    <a:lstStyle/>
                    <a:p>
                      <a:pPr algn="ctr" fontAlgn="b">
                        <a:buNone/>
                      </a:pPr>
                      <a:r>
                        <a:rPr lang="en-US" sz="1100" b="0" u="none" strike="noStrike">
                          <a:effectLst/>
                        </a:rPr>
                        <a:t>rmsnorm2</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68128</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0.030322357</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4169132704"/>
                  </a:ext>
                </a:extLst>
              </a:tr>
              <a:tr h="167995">
                <a:tc>
                  <a:txBody>
                    <a:bodyPr/>
                    <a:lstStyle/>
                    <a:p>
                      <a:pPr algn="ctr" fontAlgn="b">
                        <a:buNone/>
                      </a:pPr>
                      <a:r>
                        <a:rPr lang="en-US" sz="1100" b="0" u="none" strike="noStrike">
                          <a:effectLst/>
                        </a:rPr>
                        <a:t>rmsnorm_final</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11703</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0.005208762</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1699955781"/>
                  </a:ext>
                </a:extLst>
              </a:tr>
              <a:tr h="167995">
                <a:tc>
                  <a:txBody>
                    <a:bodyPr/>
                    <a:lstStyle/>
                    <a:p>
                      <a:pPr algn="ctr" fontAlgn="b">
                        <a:buNone/>
                      </a:pPr>
                      <a:r>
                        <a:rPr lang="en-US" sz="1100" b="0" u="none" strike="noStrike">
                          <a:effectLst/>
                        </a:rPr>
                        <a:t>rope</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197858</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0.088062484</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2849116160"/>
                  </a:ext>
                </a:extLst>
              </a:tr>
              <a:tr h="167995">
                <a:tc>
                  <a:txBody>
                    <a:bodyPr/>
                    <a:lstStyle/>
                    <a:p>
                      <a:pPr algn="ctr" fontAlgn="b">
                        <a:buNone/>
                      </a:pPr>
                      <a:r>
                        <a:rPr lang="en-US" sz="1100" b="0" u="none" strike="noStrike">
                          <a:effectLst/>
                        </a:rPr>
                        <a:t>sample</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2710895.75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1.206563358</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1267288207"/>
                  </a:ext>
                </a:extLst>
              </a:tr>
              <a:tr h="167995">
                <a:tc>
                  <a:txBody>
                    <a:bodyPr/>
                    <a:lstStyle/>
                    <a:p>
                      <a:pPr algn="ctr" fontAlgn="b">
                        <a:buNone/>
                      </a:pPr>
                      <a:r>
                        <a:rPr lang="en-US" sz="1100" b="0" u="none" strike="noStrike">
                          <a:effectLst/>
                        </a:rPr>
                        <a:t>swiglu</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450577.125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0.200542514</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996872840"/>
                  </a:ext>
                </a:extLst>
              </a:tr>
              <a:tr h="167995">
                <a:tc>
                  <a:txBody>
                    <a:bodyPr/>
                    <a:lstStyle/>
                    <a:p>
                      <a:pPr algn="ctr" fontAlgn="b">
                        <a:buNone/>
                      </a:pPr>
                      <a:r>
                        <a:rPr lang="en-US" sz="1100" b="0" u="none" strike="noStrike" dirty="0">
                          <a:effectLst/>
                        </a:rPr>
                        <a:t>w1</a:t>
                      </a:r>
                      <a:endParaRPr lang="en-US"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18254798.38</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8.12483137</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2490698561"/>
                  </a:ext>
                </a:extLst>
              </a:tr>
              <a:tr h="167995">
                <a:tc>
                  <a:txBody>
                    <a:bodyPr/>
                    <a:lstStyle/>
                    <a:p>
                      <a:pPr algn="ctr" fontAlgn="b">
                        <a:buNone/>
                      </a:pPr>
                      <a:r>
                        <a:rPr lang="en-US" sz="1100" b="0" u="none" strike="noStrike">
                          <a:effectLst/>
                        </a:rPr>
                        <a:t>w2</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18326434.38</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8.156715065</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1499725940"/>
                  </a:ext>
                </a:extLst>
              </a:tr>
              <a:tr h="167995">
                <a:tc>
                  <a:txBody>
                    <a:bodyPr/>
                    <a:lstStyle/>
                    <a:p>
                      <a:pPr algn="ctr" fontAlgn="b">
                        <a:buNone/>
                      </a:pPr>
                      <a:r>
                        <a:rPr lang="en-US" sz="1100" b="0" u="none" strike="noStrike">
                          <a:effectLst/>
                        </a:rPr>
                        <a:t>w3</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18253189.5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8.124115293</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1964265747"/>
                  </a:ext>
                </a:extLst>
              </a:tr>
              <a:tr h="167995">
                <a:tc>
                  <a:txBody>
                    <a:bodyPr/>
                    <a:lstStyle/>
                    <a:p>
                      <a:pPr algn="ctr" fontAlgn="b">
                        <a:buNone/>
                      </a:pPr>
                      <a:r>
                        <a:rPr lang="en-US" sz="1100" b="0" u="none" strike="noStrike">
                          <a:effectLst/>
                        </a:rPr>
                        <a:t>wcls</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126846991.5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56.45695968</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4272142125"/>
                  </a:ext>
                </a:extLst>
              </a:tr>
              <a:tr h="167995">
                <a:tc>
                  <a:txBody>
                    <a:bodyPr/>
                    <a:lstStyle/>
                    <a:p>
                      <a:pPr algn="ctr" fontAlgn="b">
                        <a:buNone/>
                      </a:pPr>
                      <a:r>
                        <a:rPr lang="en-US" sz="1100" b="0" u="none" strike="noStrike">
                          <a:effectLst/>
                        </a:rPr>
                        <a:t>wk</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6856149.125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3.051529485</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4034255894"/>
                  </a:ext>
                </a:extLst>
              </a:tr>
              <a:tr h="167995">
                <a:tc>
                  <a:txBody>
                    <a:bodyPr/>
                    <a:lstStyle/>
                    <a:p>
                      <a:pPr algn="ctr" fontAlgn="b">
                        <a:buNone/>
                      </a:pPr>
                      <a:r>
                        <a:rPr lang="en-US" sz="1100" b="0" u="none" strike="noStrike">
                          <a:effectLst/>
                        </a:rPr>
                        <a:t>wo</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6852318.875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3.049824721</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3166967730"/>
                  </a:ext>
                </a:extLst>
              </a:tr>
              <a:tr h="167995">
                <a:tc>
                  <a:txBody>
                    <a:bodyPr/>
                    <a:lstStyle/>
                    <a:p>
                      <a:pPr algn="ctr" fontAlgn="b">
                        <a:buNone/>
                      </a:pPr>
                      <a:r>
                        <a:rPr lang="en-US" sz="1100" b="0" u="none" strike="noStrike">
                          <a:effectLst/>
                        </a:rPr>
                        <a:t>wq</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6855011.75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3.051023263</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3578821784"/>
                  </a:ext>
                </a:extLst>
              </a:tr>
              <a:tr h="167995">
                <a:tc>
                  <a:txBody>
                    <a:bodyPr/>
                    <a:lstStyle/>
                    <a:p>
                      <a:pPr algn="ctr" fontAlgn="b">
                        <a:buNone/>
                      </a:pPr>
                      <a:r>
                        <a:rPr lang="en-US" sz="1100" b="0" u="none" strike="noStrike">
                          <a:effectLst/>
                        </a:rPr>
                        <a:t>wv</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6855439</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3.051213423</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1624949721"/>
                  </a:ext>
                </a:extLst>
              </a:tr>
              <a:tr h="167995">
                <a:tc>
                  <a:txBody>
                    <a:bodyPr/>
                    <a:lstStyle/>
                    <a:p>
                      <a:pPr algn="ctr" fontAlgn="b">
                        <a:buNone/>
                      </a:pPr>
                      <a:r>
                        <a:rPr lang="en-US" sz="1100" b="1" u="none" strike="noStrike">
                          <a:effectLst/>
                        </a:rPr>
                        <a:t>total</a:t>
                      </a:r>
                      <a:endParaRPr lang="en-US" sz="1100" b="1"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1" u="none" strike="noStrike">
                          <a:effectLst/>
                        </a:rPr>
                        <a:t>224679104.6</a:t>
                      </a:r>
                      <a:endParaRPr lang="en-US" altLang="zh-CN" sz="1100" b="1"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1" u="none" strike="noStrike" dirty="0">
                          <a:effectLst/>
                        </a:rPr>
                        <a:t>84.94138093</a:t>
                      </a:r>
                      <a:r>
                        <a:rPr lang="zh-CN" altLang="en-US" sz="1100" b="1" u="none" strike="noStrike" dirty="0">
                          <a:effectLst/>
                        </a:rPr>
                        <a:t>（矩阵算子占比）</a:t>
                      </a:r>
                      <a:endParaRPr lang="en-US" altLang="zh-CN" sz="1100" b="1"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3627665316"/>
                  </a:ext>
                </a:extLst>
              </a:tr>
            </a:tbl>
          </a:graphicData>
        </a:graphic>
      </p:graphicFrame>
      <p:sp>
        <p:nvSpPr>
          <p:cNvPr id="3" name="文本框 2">
            <a:extLst>
              <a:ext uri="{FF2B5EF4-FFF2-40B4-BE49-F238E27FC236}">
                <a16:creationId xmlns:a16="http://schemas.microsoft.com/office/drawing/2014/main" id="{D98FCC08-4919-431E-1429-1989974ABB3C}"/>
              </a:ext>
            </a:extLst>
          </p:cNvPr>
          <p:cNvSpPr txBox="1"/>
          <p:nvPr/>
        </p:nvSpPr>
        <p:spPr>
          <a:xfrm>
            <a:off x="249382" y="129309"/>
            <a:ext cx="7427739" cy="369332"/>
          </a:xfrm>
          <a:prstGeom prst="rect">
            <a:avLst/>
          </a:prstGeom>
          <a:noFill/>
        </p:spPr>
        <p:txBody>
          <a:bodyPr wrap="none" rtlCol="0">
            <a:spAutoFit/>
          </a:bodyPr>
          <a:lstStyle/>
          <a:p>
            <a:r>
              <a:rPr lang="en-US" altLang="zh-CN" dirty="0"/>
              <a:t>Llama2 15Mb</a:t>
            </a:r>
            <a:r>
              <a:rPr lang="zh-CN" altLang="en-US" dirty="0"/>
              <a:t>模型，平均</a:t>
            </a:r>
            <a:r>
              <a:rPr lang="en-US" altLang="zh-CN" dirty="0"/>
              <a:t>1</a:t>
            </a:r>
            <a:r>
              <a:rPr lang="zh-CN" altLang="en-US" dirty="0"/>
              <a:t>个</a:t>
            </a:r>
            <a:r>
              <a:rPr lang="en-US" altLang="zh-CN" dirty="0"/>
              <a:t>token</a:t>
            </a:r>
            <a:r>
              <a:rPr lang="zh-CN" altLang="en-US" dirty="0"/>
              <a:t>输出下，各个算子</a:t>
            </a:r>
            <a:r>
              <a:rPr lang="en-US" altLang="zh-CN" dirty="0"/>
              <a:t>cycles</a:t>
            </a:r>
            <a:r>
              <a:rPr lang="zh-CN" altLang="en-US" dirty="0"/>
              <a:t>数以及占比</a:t>
            </a:r>
          </a:p>
        </p:txBody>
      </p:sp>
      <p:graphicFrame>
        <p:nvGraphicFramePr>
          <p:cNvPr id="4" name="表格 3">
            <a:extLst>
              <a:ext uri="{FF2B5EF4-FFF2-40B4-BE49-F238E27FC236}">
                <a16:creationId xmlns:a16="http://schemas.microsoft.com/office/drawing/2014/main" id="{DD875BF8-AB5B-C735-4608-736981AE98CF}"/>
              </a:ext>
            </a:extLst>
          </p:cNvPr>
          <p:cNvGraphicFramePr>
            <a:graphicFrameLocks noGrp="1"/>
          </p:cNvGraphicFramePr>
          <p:nvPr>
            <p:extLst>
              <p:ext uri="{D42A27DB-BD31-4B8C-83A1-F6EECF244321}">
                <p14:modId xmlns:p14="http://schemas.microsoft.com/office/powerpoint/2010/main" val="4193991844"/>
              </p:ext>
            </p:extLst>
          </p:nvPr>
        </p:nvGraphicFramePr>
        <p:xfrm>
          <a:off x="452582" y="856961"/>
          <a:ext cx="4110182" cy="5766057"/>
        </p:xfrm>
        <a:graphic>
          <a:graphicData uri="http://schemas.openxmlformats.org/drawingml/2006/table">
            <a:tbl>
              <a:tblPr>
                <a:tableStyleId>{5C22544A-7EE6-4342-B048-85BDC9FD1C3A}</a:tableStyleId>
              </a:tblPr>
              <a:tblGrid>
                <a:gridCol w="1190098">
                  <a:extLst>
                    <a:ext uri="{9D8B030D-6E8A-4147-A177-3AD203B41FA5}">
                      <a16:colId xmlns:a16="http://schemas.microsoft.com/office/drawing/2014/main" val="3722966253"/>
                    </a:ext>
                  </a:extLst>
                </a:gridCol>
                <a:gridCol w="1187831">
                  <a:extLst>
                    <a:ext uri="{9D8B030D-6E8A-4147-A177-3AD203B41FA5}">
                      <a16:colId xmlns:a16="http://schemas.microsoft.com/office/drawing/2014/main" val="3979405723"/>
                    </a:ext>
                  </a:extLst>
                </a:gridCol>
                <a:gridCol w="1732253">
                  <a:extLst>
                    <a:ext uri="{9D8B030D-6E8A-4147-A177-3AD203B41FA5}">
                      <a16:colId xmlns:a16="http://schemas.microsoft.com/office/drawing/2014/main" val="4270065443"/>
                    </a:ext>
                  </a:extLst>
                </a:gridCol>
              </a:tblGrid>
              <a:tr h="131859">
                <a:tc>
                  <a:txBody>
                    <a:bodyPr/>
                    <a:lstStyle/>
                    <a:p>
                      <a:pPr algn="ctr" fontAlgn="b">
                        <a:buNone/>
                      </a:pPr>
                      <a:r>
                        <a:rPr lang="en-US" sz="1100" b="1" u="none" strike="noStrike" dirty="0">
                          <a:effectLst/>
                        </a:rPr>
                        <a:t>Operation</a:t>
                      </a:r>
                      <a:endParaRPr lang="en-US" sz="1100" b="1" i="0" u="none" strike="noStrike" dirty="0">
                        <a:solidFill>
                          <a:srgbClr val="FFFFFF"/>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1" u="none" strike="noStrike" dirty="0">
                          <a:effectLst/>
                        </a:rPr>
                        <a:t>Avg(cycles)</a:t>
                      </a:r>
                      <a:endParaRPr lang="en-US" altLang="zh-CN" sz="1100" b="1" i="0" u="none" strike="noStrike" dirty="0">
                        <a:solidFill>
                          <a:srgbClr val="FFFFFF"/>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sz="1100" b="1" u="none" strike="noStrike">
                          <a:effectLst/>
                        </a:rPr>
                        <a:t>Proportion of Ops %</a:t>
                      </a:r>
                      <a:endParaRPr lang="en-US" sz="1100" b="1" i="0" u="none" strike="noStrike">
                        <a:solidFill>
                          <a:srgbClr val="FFFFFF"/>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1400276497"/>
                  </a:ext>
                </a:extLst>
              </a:tr>
              <a:tr h="131859">
                <a:tc>
                  <a:txBody>
                    <a:bodyPr/>
                    <a:lstStyle/>
                    <a:p>
                      <a:pPr algn="ctr" fontAlgn="b">
                        <a:buNone/>
                      </a:pPr>
                      <a:r>
                        <a:rPr lang="en-US" sz="1100" b="0" u="none" strike="noStrike" dirty="0" err="1">
                          <a:effectLst/>
                        </a:rPr>
                        <a:t>att_mask</a:t>
                      </a:r>
                      <a:endParaRPr lang="en-US"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183919.875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0.032228453</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4129803932"/>
                  </a:ext>
                </a:extLst>
              </a:tr>
              <a:tr h="131859">
                <a:tc>
                  <a:txBody>
                    <a:bodyPr/>
                    <a:lstStyle/>
                    <a:p>
                      <a:pPr algn="ctr" fontAlgn="b">
                        <a:buNone/>
                      </a:pPr>
                      <a:r>
                        <a:rPr lang="en-US" sz="1100" b="0" u="none" strike="noStrike" dirty="0" err="1">
                          <a:effectLst/>
                        </a:rPr>
                        <a:t>att_score</a:t>
                      </a:r>
                      <a:endParaRPr lang="en-US"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160020</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0.028040455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4030617996"/>
                  </a:ext>
                </a:extLst>
              </a:tr>
              <a:tr h="131859">
                <a:tc>
                  <a:txBody>
                    <a:bodyPr/>
                    <a:lstStyle/>
                    <a:p>
                      <a:pPr algn="ctr" fontAlgn="b">
                        <a:buNone/>
                      </a:pPr>
                      <a:r>
                        <a:rPr lang="en-US" sz="1100" b="0" u="none" strike="noStrike" dirty="0" err="1">
                          <a:effectLst/>
                        </a:rPr>
                        <a:t>att_softmax</a:t>
                      </a:r>
                      <a:endParaRPr lang="en-US"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15812.5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0.002770839</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2262626377"/>
                  </a:ext>
                </a:extLst>
              </a:tr>
              <a:tr h="131859">
                <a:tc>
                  <a:txBody>
                    <a:bodyPr/>
                    <a:lstStyle/>
                    <a:p>
                      <a:pPr algn="ctr" fontAlgn="b">
                        <a:buNone/>
                      </a:pPr>
                      <a:r>
                        <a:rPr lang="en-US" sz="1100" b="0" u="none" strike="noStrike">
                          <a:effectLst/>
                        </a:rPr>
                        <a:t>att_val</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279490.75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0.048975427</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4012207534"/>
                  </a:ext>
                </a:extLst>
              </a:tr>
              <a:tr h="131859">
                <a:tc>
                  <a:txBody>
                    <a:bodyPr/>
                    <a:lstStyle/>
                    <a:p>
                      <a:pPr algn="ctr" fontAlgn="b">
                        <a:buNone/>
                      </a:pPr>
                      <a:r>
                        <a:rPr lang="en-US" sz="1100" b="0" u="none" strike="noStrike">
                          <a:effectLst/>
                        </a:rPr>
                        <a:t>decode</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226</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sz="1100" b="0" u="none" strike="noStrike">
                          <a:effectLst/>
                        </a:rPr>
                        <a:t>3.96022E-05</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2372908667"/>
                  </a:ext>
                </a:extLst>
              </a:tr>
              <a:tr h="131859">
                <a:tc>
                  <a:txBody>
                    <a:bodyPr/>
                    <a:lstStyle/>
                    <a:p>
                      <a:pPr algn="ctr" fontAlgn="b">
                        <a:buNone/>
                      </a:pPr>
                      <a:r>
                        <a:rPr lang="en-US" sz="1100" b="0" u="none" strike="noStrike">
                          <a:effectLst/>
                        </a:rPr>
                        <a:t>encode</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10462758.13</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1.833398956</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762556737"/>
                  </a:ext>
                </a:extLst>
              </a:tr>
              <a:tr h="131859">
                <a:tc>
                  <a:txBody>
                    <a:bodyPr/>
                    <a:lstStyle/>
                    <a:p>
                      <a:pPr algn="ctr" fontAlgn="b">
                        <a:buNone/>
                      </a:pPr>
                      <a:r>
                        <a:rPr lang="en-US" sz="1100" b="0" u="none" strike="noStrike">
                          <a:effectLst/>
                        </a:rPr>
                        <a:t>memcpy_embed</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12958.25</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0.002270686</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1632455882"/>
                  </a:ext>
                </a:extLst>
              </a:tr>
              <a:tr h="131859">
                <a:tc>
                  <a:txBody>
                    <a:bodyPr/>
                    <a:lstStyle/>
                    <a:p>
                      <a:pPr algn="ctr" fontAlgn="b">
                        <a:buNone/>
                      </a:pPr>
                      <a:r>
                        <a:rPr lang="en-US" sz="1100" b="0" u="none" strike="noStrike">
                          <a:effectLst/>
                        </a:rPr>
                        <a:t>memcpy_k</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60033.625</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0.010519749</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1497871407"/>
                  </a:ext>
                </a:extLst>
              </a:tr>
              <a:tr h="131859">
                <a:tc>
                  <a:txBody>
                    <a:bodyPr/>
                    <a:lstStyle/>
                    <a:p>
                      <a:pPr algn="ctr" fontAlgn="b">
                        <a:buNone/>
                      </a:pPr>
                      <a:r>
                        <a:rPr lang="en-US" sz="1100" b="0" u="none" strike="noStrike">
                          <a:effectLst/>
                        </a:rPr>
                        <a:t>memcpy_v</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77861.375</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0.013643722</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1250282373"/>
                  </a:ext>
                </a:extLst>
              </a:tr>
              <a:tr h="131859">
                <a:tc>
                  <a:txBody>
                    <a:bodyPr/>
                    <a:lstStyle/>
                    <a:p>
                      <a:pPr algn="ctr" fontAlgn="b">
                        <a:buNone/>
                      </a:pPr>
                      <a:r>
                        <a:rPr lang="en-US" sz="1100" b="0" u="none" strike="noStrike">
                          <a:effectLst/>
                        </a:rPr>
                        <a:t>print</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15398.5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0.002698294</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4108883221"/>
                  </a:ext>
                </a:extLst>
              </a:tr>
              <a:tr h="131859">
                <a:tc>
                  <a:txBody>
                    <a:bodyPr/>
                    <a:lstStyle/>
                    <a:p>
                      <a:pPr algn="ctr" fontAlgn="b">
                        <a:buNone/>
                      </a:pPr>
                      <a:r>
                        <a:rPr lang="en-US" sz="1100" b="0" u="none" strike="noStrike">
                          <a:effectLst/>
                        </a:rPr>
                        <a:t>quantize1</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91227.25</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0.015985837</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3230913537"/>
                  </a:ext>
                </a:extLst>
              </a:tr>
              <a:tr h="131859">
                <a:tc>
                  <a:txBody>
                    <a:bodyPr/>
                    <a:lstStyle/>
                    <a:p>
                      <a:pPr algn="ctr" fontAlgn="b">
                        <a:buNone/>
                      </a:pPr>
                      <a:r>
                        <a:rPr lang="en-US" sz="1100" b="0" u="none" strike="noStrike">
                          <a:effectLst/>
                        </a:rPr>
                        <a:t>quantize2</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91872</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0.016098817</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4079113943"/>
                  </a:ext>
                </a:extLst>
              </a:tr>
              <a:tr h="131859">
                <a:tc>
                  <a:txBody>
                    <a:bodyPr/>
                    <a:lstStyle/>
                    <a:p>
                      <a:pPr algn="ctr" fontAlgn="b">
                        <a:buNone/>
                      </a:pPr>
                      <a:r>
                        <a:rPr lang="en-US" sz="1100" b="0" u="none" strike="noStrike">
                          <a:effectLst/>
                        </a:rPr>
                        <a:t>quantize3</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107431.25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0.018825279</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2730082599"/>
                  </a:ext>
                </a:extLst>
              </a:tr>
              <a:tr h="131859">
                <a:tc>
                  <a:txBody>
                    <a:bodyPr/>
                    <a:lstStyle/>
                    <a:p>
                      <a:pPr algn="ctr" fontAlgn="b">
                        <a:buNone/>
                      </a:pPr>
                      <a:r>
                        <a:rPr lang="en-US" sz="1100" b="0" u="none" strike="noStrike">
                          <a:effectLst/>
                        </a:rPr>
                        <a:t>quantize4</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233660</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0.040944462</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19805847"/>
                  </a:ext>
                </a:extLst>
              </a:tr>
              <a:tr h="131859">
                <a:tc>
                  <a:txBody>
                    <a:bodyPr/>
                    <a:lstStyle/>
                    <a:p>
                      <a:pPr algn="ctr" fontAlgn="b">
                        <a:buNone/>
                      </a:pPr>
                      <a:r>
                        <a:rPr lang="en-US" sz="1100" b="0" u="none" strike="noStrike">
                          <a:effectLst/>
                        </a:rPr>
                        <a:t>quantize_final</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14372.25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0.002518463</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4245274533"/>
                  </a:ext>
                </a:extLst>
              </a:tr>
              <a:tr h="131859">
                <a:tc>
                  <a:txBody>
                    <a:bodyPr/>
                    <a:lstStyle/>
                    <a:p>
                      <a:pPr algn="ctr" fontAlgn="b">
                        <a:buNone/>
                      </a:pPr>
                      <a:r>
                        <a:rPr lang="en-US" sz="1100" b="0" u="none" strike="noStrike">
                          <a:effectLst/>
                        </a:rPr>
                        <a:t>resid1</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70036.875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0.012272628</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1220371559"/>
                  </a:ext>
                </a:extLst>
              </a:tr>
              <a:tr h="131859">
                <a:tc>
                  <a:txBody>
                    <a:bodyPr/>
                    <a:lstStyle/>
                    <a:p>
                      <a:pPr algn="ctr" fontAlgn="b">
                        <a:buNone/>
                      </a:pPr>
                      <a:r>
                        <a:rPr lang="en-US" sz="1100" b="0" u="none" strike="noStrike">
                          <a:effectLst/>
                        </a:rPr>
                        <a:t>resid2</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70009</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0.012267743</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2617516168"/>
                  </a:ext>
                </a:extLst>
              </a:tr>
              <a:tr h="131859">
                <a:tc>
                  <a:txBody>
                    <a:bodyPr/>
                    <a:lstStyle/>
                    <a:p>
                      <a:pPr algn="ctr" fontAlgn="b">
                        <a:buNone/>
                      </a:pPr>
                      <a:r>
                        <a:rPr lang="en-US" sz="1100" b="0" u="none" strike="noStrike">
                          <a:effectLst/>
                        </a:rPr>
                        <a:t>rmsnorm1</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72043.875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0.012624316</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2772869072"/>
                  </a:ext>
                </a:extLst>
              </a:tr>
              <a:tr h="131859">
                <a:tc>
                  <a:txBody>
                    <a:bodyPr/>
                    <a:lstStyle/>
                    <a:p>
                      <a:pPr algn="ctr" fontAlgn="b">
                        <a:buNone/>
                      </a:pPr>
                      <a:r>
                        <a:rPr lang="en-US" sz="1100" b="0" u="none" strike="noStrike">
                          <a:effectLst/>
                        </a:rPr>
                        <a:t>rmsnorm2</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67419.125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0.011813917</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3115034286"/>
                  </a:ext>
                </a:extLst>
              </a:tr>
              <a:tr h="131859">
                <a:tc>
                  <a:txBody>
                    <a:bodyPr/>
                    <a:lstStyle/>
                    <a:p>
                      <a:pPr algn="ctr" fontAlgn="b">
                        <a:buNone/>
                      </a:pPr>
                      <a:r>
                        <a:rPr lang="en-US" sz="1100" b="0" u="none" strike="noStrike">
                          <a:effectLst/>
                        </a:rPr>
                        <a:t>rmsnorm_final</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11736</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0.00205651</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20708441"/>
                  </a:ext>
                </a:extLst>
              </a:tr>
              <a:tr h="131859">
                <a:tc>
                  <a:txBody>
                    <a:bodyPr/>
                    <a:lstStyle/>
                    <a:p>
                      <a:pPr algn="ctr" fontAlgn="b">
                        <a:buNone/>
                      </a:pPr>
                      <a:r>
                        <a:rPr lang="en-US" sz="1100" b="0" u="none" strike="noStrike">
                          <a:effectLst/>
                        </a:rPr>
                        <a:t>rope</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190571.375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0.033394001</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3601038569"/>
                  </a:ext>
                </a:extLst>
              </a:tr>
              <a:tr h="131859">
                <a:tc>
                  <a:txBody>
                    <a:bodyPr/>
                    <a:lstStyle/>
                    <a:p>
                      <a:pPr algn="ctr" fontAlgn="b">
                        <a:buNone/>
                      </a:pPr>
                      <a:r>
                        <a:rPr lang="en-US" sz="1100" b="0" u="none" strike="noStrike">
                          <a:effectLst/>
                        </a:rPr>
                        <a:t>sample</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2710557.5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0.474973542</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1672224949"/>
                  </a:ext>
                </a:extLst>
              </a:tr>
              <a:tr h="131859">
                <a:tc>
                  <a:txBody>
                    <a:bodyPr/>
                    <a:lstStyle/>
                    <a:p>
                      <a:pPr algn="ctr" fontAlgn="b">
                        <a:buNone/>
                      </a:pPr>
                      <a:r>
                        <a:rPr lang="en-US" sz="1100" b="0" u="none" strike="noStrike">
                          <a:effectLst/>
                        </a:rPr>
                        <a:t>swiglu</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450602.625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0.078959522</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943283719"/>
                  </a:ext>
                </a:extLst>
              </a:tr>
              <a:tr h="131859">
                <a:tc>
                  <a:txBody>
                    <a:bodyPr/>
                    <a:lstStyle/>
                    <a:p>
                      <a:pPr algn="ctr" fontAlgn="b">
                        <a:buNone/>
                      </a:pPr>
                      <a:r>
                        <a:rPr lang="en-US" sz="1100" b="0" u="none" strike="noStrike">
                          <a:effectLst/>
                        </a:rPr>
                        <a:t>w1</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48386543.38</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8.478819545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1589867556"/>
                  </a:ext>
                </a:extLst>
              </a:tr>
              <a:tr h="131859">
                <a:tc>
                  <a:txBody>
                    <a:bodyPr/>
                    <a:lstStyle/>
                    <a:p>
                      <a:pPr algn="ctr" fontAlgn="b">
                        <a:buNone/>
                      </a:pPr>
                      <a:r>
                        <a:rPr lang="en-US" sz="1100" b="0" u="none" strike="noStrike">
                          <a:effectLst/>
                        </a:rPr>
                        <a:t>w2</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47860840</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8.386700048</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1352178659"/>
                  </a:ext>
                </a:extLst>
              </a:tr>
              <a:tr h="131859">
                <a:tc>
                  <a:txBody>
                    <a:bodyPr/>
                    <a:lstStyle/>
                    <a:p>
                      <a:pPr algn="ctr" fontAlgn="b">
                        <a:buNone/>
                      </a:pPr>
                      <a:r>
                        <a:rPr lang="en-US" sz="1100" b="0" u="none" strike="noStrike">
                          <a:effectLst/>
                        </a:rPr>
                        <a:t>w3</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48390557.75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8.479522988</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1085588970"/>
                  </a:ext>
                </a:extLst>
              </a:tr>
              <a:tr h="131859">
                <a:tc>
                  <a:txBody>
                    <a:bodyPr/>
                    <a:lstStyle/>
                    <a:p>
                      <a:pPr algn="ctr" fontAlgn="b">
                        <a:buNone/>
                      </a:pPr>
                      <a:r>
                        <a:rPr lang="en-US" sz="1100" b="0" u="none" strike="noStrike">
                          <a:effectLst/>
                        </a:rPr>
                        <a:t>wcls</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339679529.1</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59.52236365</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2058779153"/>
                  </a:ext>
                </a:extLst>
              </a:tr>
              <a:tr h="131859">
                <a:tc>
                  <a:txBody>
                    <a:bodyPr/>
                    <a:lstStyle/>
                    <a:p>
                      <a:pPr algn="ctr" fontAlgn="b">
                        <a:buNone/>
                      </a:pPr>
                      <a:r>
                        <a:rPr lang="en-US" sz="1100" b="0" u="none" strike="noStrike">
                          <a:effectLst/>
                        </a:rPr>
                        <a:t>wk</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17727714</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3.106444013</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4175523417"/>
                  </a:ext>
                </a:extLst>
              </a:tr>
              <a:tr h="131859">
                <a:tc>
                  <a:txBody>
                    <a:bodyPr/>
                    <a:lstStyle/>
                    <a:p>
                      <a:pPr algn="ctr" fontAlgn="b">
                        <a:buNone/>
                      </a:pPr>
                      <a:r>
                        <a:rPr lang="en-US" sz="1100" b="0" u="none" strike="noStrike">
                          <a:effectLst/>
                        </a:rPr>
                        <a:t>wo</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17726752.75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3.106275572</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3535804638"/>
                  </a:ext>
                </a:extLst>
              </a:tr>
              <a:tr h="131859">
                <a:tc>
                  <a:txBody>
                    <a:bodyPr/>
                    <a:lstStyle/>
                    <a:p>
                      <a:pPr algn="ctr" fontAlgn="b">
                        <a:buNone/>
                      </a:pPr>
                      <a:r>
                        <a:rPr lang="en-US" sz="1100" b="0" u="none" strike="noStrike">
                          <a:effectLst/>
                        </a:rPr>
                        <a:t>wq</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17727868.13</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3.10647102</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3666213042"/>
                  </a:ext>
                </a:extLst>
              </a:tr>
              <a:tr h="131859">
                <a:tc>
                  <a:txBody>
                    <a:bodyPr/>
                    <a:lstStyle/>
                    <a:p>
                      <a:pPr algn="ctr" fontAlgn="b">
                        <a:buNone/>
                      </a:pPr>
                      <a:r>
                        <a:rPr lang="en-US" sz="1100" b="0" u="none" strike="noStrike">
                          <a:effectLst/>
                        </a:rPr>
                        <a:t>wv</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a:effectLst/>
                        </a:rPr>
                        <a:t>17725647.75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0" u="none" strike="noStrike" dirty="0">
                          <a:effectLst/>
                        </a:rPr>
                        <a:t>3.106081942</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3372720326"/>
                  </a:ext>
                </a:extLst>
              </a:tr>
              <a:tr h="131859">
                <a:tc>
                  <a:txBody>
                    <a:bodyPr/>
                    <a:lstStyle/>
                    <a:p>
                      <a:pPr algn="ctr" fontAlgn="b">
                        <a:buNone/>
                      </a:pPr>
                      <a:r>
                        <a:rPr lang="en-US" sz="1100" b="1" u="none" strike="noStrike" dirty="0">
                          <a:effectLst/>
                        </a:rPr>
                        <a:t>total</a:t>
                      </a:r>
                      <a:endParaRPr lang="en-US" sz="1100" b="1"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1" u="none" strike="noStrike">
                          <a:effectLst/>
                        </a:rPr>
                        <a:t>570675471</a:t>
                      </a:r>
                      <a:endParaRPr lang="en-US" altLang="zh-CN" sz="1100" b="1" i="0" u="none" strike="noStrike">
                        <a:solidFill>
                          <a:srgbClr val="000000"/>
                        </a:solidFill>
                        <a:effectLst/>
                        <a:latin typeface="宋体" panose="02010600030101010101" pitchFamily="2" charset="-122"/>
                        <a:ea typeface="宋体" panose="02010600030101010101" pitchFamily="2" charset="-122"/>
                      </a:endParaRPr>
                    </a:p>
                  </a:txBody>
                  <a:tcPr marL="7089" marR="7089" marT="7089" marB="0" anchor="b"/>
                </a:tc>
                <a:tc>
                  <a:txBody>
                    <a:bodyPr/>
                    <a:lstStyle/>
                    <a:p>
                      <a:pPr algn="ctr" fontAlgn="b">
                        <a:buNone/>
                      </a:pPr>
                      <a:r>
                        <a:rPr lang="en-US" altLang="zh-CN" sz="1100" b="1" u="none" strike="noStrike" dirty="0">
                          <a:effectLst/>
                        </a:rPr>
                        <a:t>97.29267878(</a:t>
                      </a:r>
                      <a:r>
                        <a:rPr lang="zh-CN" altLang="en-US" sz="1100" b="1" u="none" strike="noStrike" dirty="0">
                          <a:effectLst/>
                        </a:rPr>
                        <a:t>矩阵算子占比</a:t>
                      </a:r>
                      <a:r>
                        <a:rPr lang="en-US" altLang="zh-CN" sz="1100" b="1" u="none" strike="noStrike" dirty="0">
                          <a:effectLst/>
                        </a:rPr>
                        <a:t>)</a:t>
                      </a:r>
                      <a:endParaRPr lang="en-US" altLang="zh-CN" sz="1100" b="1" i="0" u="none" strike="noStrike" dirty="0">
                        <a:solidFill>
                          <a:srgbClr val="000000"/>
                        </a:solidFill>
                        <a:effectLst/>
                        <a:latin typeface="宋体" panose="02010600030101010101" pitchFamily="2" charset="-122"/>
                        <a:ea typeface="宋体" panose="02010600030101010101" pitchFamily="2" charset="-122"/>
                      </a:endParaRPr>
                    </a:p>
                  </a:txBody>
                  <a:tcPr marL="7089" marR="7089" marT="7089" marB="0" anchor="b"/>
                </a:tc>
                <a:extLst>
                  <a:ext uri="{0D108BD9-81ED-4DB2-BD59-A6C34878D82A}">
                    <a16:rowId xmlns:a16="http://schemas.microsoft.com/office/drawing/2014/main" val="3239038773"/>
                  </a:ext>
                </a:extLst>
              </a:tr>
            </a:tbl>
          </a:graphicData>
        </a:graphic>
      </p:graphicFrame>
      <p:sp>
        <p:nvSpPr>
          <p:cNvPr id="5" name="文本框 4">
            <a:extLst>
              <a:ext uri="{FF2B5EF4-FFF2-40B4-BE49-F238E27FC236}">
                <a16:creationId xmlns:a16="http://schemas.microsoft.com/office/drawing/2014/main" id="{D6FDA6BB-0B81-4943-FC04-C994C8A104A5}"/>
              </a:ext>
            </a:extLst>
          </p:cNvPr>
          <p:cNvSpPr txBox="1"/>
          <p:nvPr/>
        </p:nvSpPr>
        <p:spPr>
          <a:xfrm>
            <a:off x="332508" y="549184"/>
            <a:ext cx="2933816" cy="307777"/>
          </a:xfrm>
          <a:prstGeom prst="rect">
            <a:avLst/>
          </a:prstGeom>
          <a:noFill/>
        </p:spPr>
        <p:txBody>
          <a:bodyPr wrap="none" rtlCol="0">
            <a:spAutoFit/>
          </a:bodyPr>
          <a:lstStyle/>
          <a:p>
            <a:r>
              <a:rPr lang="zh-CN" altLang="en-US" sz="1400" b="1" dirty="0"/>
              <a:t>使用矩阵核、向量核的</a:t>
            </a:r>
            <a:r>
              <a:rPr lang="en-US" altLang="zh-CN" sz="1400" b="1" dirty="0" err="1"/>
              <a:t>matmul</a:t>
            </a:r>
            <a:r>
              <a:rPr lang="zh-CN" altLang="en-US" sz="1400" b="1" dirty="0"/>
              <a:t>算子</a:t>
            </a:r>
          </a:p>
        </p:txBody>
      </p:sp>
      <p:sp>
        <p:nvSpPr>
          <p:cNvPr id="6" name="文本框 5">
            <a:extLst>
              <a:ext uri="{FF2B5EF4-FFF2-40B4-BE49-F238E27FC236}">
                <a16:creationId xmlns:a16="http://schemas.microsoft.com/office/drawing/2014/main" id="{E9D3C6F4-59B8-5CF1-8919-DB1878CC856C}"/>
              </a:ext>
            </a:extLst>
          </p:cNvPr>
          <p:cNvSpPr txBox="1"/>
          <p:nvPr/>
        </p:nvSpPr>
        <p:spPr>
          <a:xfrm>
            <a:off x="4682838" y="549184"/>
            <a:ext cx="2209259" cy="307777"/>
          </a:xfrm>
          <a:prstGeom prst="rect">
            <a:avLst/>
          </a:prstGeom>
          <a:noFill/>
        </p:spPr>
        <p:txBody>
          <a:bodyPr wrap="none" rtlCol="0">
            <a:spAutoFit/>
          </a:bodyPr>
          <a:lstStyle/>
          <a:p>
            <a:r>
              <a:rPr lang="zh-CN" altLang="en-US" sz="1400" b="1" dirty="0"/>
              <a:t>使用标量核的</a:t>
            </a:r>
            <a:r>
              <a:rPr lang="en-US" altLang="zh-CN" sz="1400" b="1" dirty="0" err="1"/>
              <a:t>matmul</a:t>
            </a:r>
            <a:r>
              <a:rPr lang="zh-CN" altLang="en-US" sz="1400" b="1" dirty="0"/>
              <a:t>算子</a:t>
            </a:r>
          </a:p>
        </p:txBody>
      </p:sp>
      <p:sp>
        <p:nvSpPr>
          <p:cNvPr id="7" name="文本框 6">
            <a:extLst>
              <a:ext uri="{FF2B5EF4-FFF2-40B4-BE49-F238E27FC236}">
                <a16:creationId xmlns:a16="http://schemas.microsoft.com/office/drawing/2014/main" id="{A29DD8F9-9DB7-84C2-ABBA-A866D29B605A}"/>
              </a:ext>
            </a:extLst>
          </p:cNvPr>
          <p:cNvSpPr txBox="1"/>
          <p:nvPr/>
        </p:nvSpPr>
        <p:spPr>
          <a:xfrm>
            <a:off x="8232262" y="6623018"/>
            <a:ext cx="4027064" cy="246221"/>
          </a:xfrm>
          <a:prstGeom prst="rect">
            <a:avLst/>
          </a:prstGeom>
          <a:noFill/>
        </p:spPr>
        <p:txBody>
          <a:bodyPr wrap="none" rtlCol="0">
            <a:spAutoFit/>
          </a:bodyPr>
          <a:lstStyle/>
          <a:p>
            <a:r>
              <a:rPr lang="zh-CN" altLang="en-US" sz="1000" dirty="0"/>
              <a:t>注：</a:t>
            </a:r>
            <a:r>
              <a:rPr lang="en-US" altLang="zh-CN" sz="1000" dirty="0"/>
              <a:t>Scalar</a:t>
            </a:r>
            <a:r>
              <a:rPr lang="zh-CN" altLang="en-US" sz="1000" dirty="0"/>
              <a:t>指令都是在</a:t>
            </a:r>
            <a:r>
              <a:rPr lang="en-US" altLang="zh-CN" sz="1000" dirty="0"/>
              <a:t>O1</a:t>
            </a:r>
            <a:r>
              <a:rPr lang="zh-CN" altLang="en-US" sz="1000" dirty="0"/>
              <a:t>优化下，</a:t>
            </a:r>
            <a:r>
              <a:rPr lang="en-US" altLang="zh-CN" sz="1000" dirty="0"/>
              <a:t>RVV</a:t>
            </a:r>
            <a:r>
              <a:rPr lang="zh-CN" altLang="en-US" sz="1000" dirty="0"/>
              <a:t>算子</a:t>
            </a:r>
            <a:r>
              <a:rPr lang="en-US" altLang="zh-CN" sz="1000" dirty="0"/>
              <a:t>O1</a:t>
            </a:r>
            <a:r>
              <a:rPr lang="zh-CN" altLang="en-US" sz="1000" dirty="0"/>
              <a:t>优化，</a:t>
            </a:r>
            <a:r>
              <a:rPr lang="en-US" altLang="zh-CN" sz="1000" dirty="0"/>
              <a:t>AME</a:t>
            </a:r>
            <a:r>
              <a:rPr lang="zh-CN" altLang="en-US" sz="1000" dirty="0"/>
              <a:t>算子</a:t>
            </a:r>
            <a:r>
              <a:rPr lang="en-US" altLang="zh-CN" sz="1000" dirty="0"/>
              <a:t>O0</a:t>
            </a:r>
            <a:r>
              <a:rPr lang="zh-CN" altLang="en-US" sz="1000" dirty="0"/>
              <a:t>优化</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A0B07C72-8557-2931-D266-88AF68802B37}"/>
                  </a:ext>
                </a:extLst>
              </p:cNvPr>
              <p:cNvSpPr txBox="1"/>
              <p:nvPr/>
            </p:nvSpPr>
            <p:spPr>
              <a:xfrm>
                <a:off x="9660308" y="3630197"/>
                <a:ext cx="2449398" cy="74065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1400" dirty="0" smtClean="0">
                          <a:latin typeface="Cambria Math" panose="02040503050406030204" pitchFamily="18" charset="0"/>
                        </a:rPr>
                        <m:t>Proportion</m:t>
                      </m:r>
                      <m:r>
                        <a:rPr lang="en-US" altLang="zh-CN" sz="1400" b="0" i="1" dirty="0" smtClean="0">
                          <a:latin typeface="Cambria Math" panose="02040503050406030204" pitchFamily="18" charset="0"/>
                        </a:rPr>
                        <m:t> </m:t>
                      </m:r>
                      <m:r>
                        <m:rPr>
                          <m:sty m:val="p"/>
                        </m:rPr>
                        <a:rPr lang="en-US" altLang="zh-CN" sz="1400" dirty="0">
                          <a:latin typeface="Cambria Math" panose="02040503050406030204" pitchFamily="18" charset="0"/>
                        </a:rPr>
                        <m:t>of</m:t>
                      </m:r>
                      <m:r>
                        <a:rPr lang="en-US" altLang="zh-CN" sz="1400" b="0" i="0" dirty="0" smtClean="0">
                          <a:latin typeface="Cambria Math" panose="02040503050406030204" pitchFamily="18" charset="0"/>
                        </a:rPr>
                        <m:t> </m:t>
                      </m:r>
                      <m:r>
                        <m:rPr>
                          <m:sty m:val="p"/>
                        </m:rPr>
                        <a:rPr lang="en-US" altLang="zh-CN" sz="1400" dirty="0">
                          <a:latin typeface="Cambria Math" panose="02040503050406030204" pitchFamily="18" charset="0"/>
                        </a:rPr>
                        <m:t>Ops</m:t>
                      </m:r>
                      <m:r>
                        <a:rPr lang="en-US" altLang="zh-CN" sz="1400" i="0" dirty="0" smtClean="0">
                          <a:latin typeface="Cambria Math" panose="02040503050406030204" pitchFamily="18" charset="0"/>
                        </a:rPr>
                        <m:t>=</m:t>
                      </m:r>
                      <m:r>
                        <a:rPr lang="en-US" altLang="zh-CN" sz="1400" b="0" i="1" dirty="0" smtClean="0">
                          <a:latin typeface="Cambria Math" panose="02040503050406030204" pitchFamily="18" charset="0"/>
                        </a:rPr>
                        <m:t>𝑎𝑣𝑔</m:t>
                      </m:r>
                      <m:d>
                        <m:dPr>
                          <m:ctrlPr>
                            <a:rPr lang="en-US" altLang="zh-CN" sz="1400" b="0" i="1" dirty="0" smtClean="0">
                              <a:latin typeface="Cambria Math" panose="02040503050406030204" pitchFamily="18" charset="0"/>
                            </a:rPr>
                          </m:ctrlPr>
                        </m:dPr>
                        <m:e>
                          <m:f>
                            <m:fPr>
                              <m:ctrlPr>
                                <a:rPr lang="en-US" altLang="zh-CN" sz="1400" i="1" dirty="0" smtClean="0">
                                  <a:latin typeface="Cambria Math" panose="02040503050406030204" pitchFamily="18" charset="0"/>
                                </a:rPr>
                              </m:ctrlPr>
                            </m:fPr>
                            <m:num>
                              <m:r>
                                <a:rPr lang="en-US" altLang="zh-CN" sz="1400" b="0" i="1" dirty="0" smtClean="0">
                                  <a:latin typeface="Cambria Math" panose="02040503050406030204" pitchFamily="18" charset="0"/>
                                </a:rPr>
                                <m:t>𝑐𝑦𝑐𝑙𝑒𝑠</m:t>
                              </m:r>
                            </m:num>
                            <m:den>
                              <m:nary>
                                <m:naryPr>
                                  <m:chr m:val="∑"/>
                                  <m:ctrlPr>
                                    <a:rPr lang="en-US" altLang="zh-CN" sz="1400" i="1" dirty="0" smtClean="0">
                                      <a:latin typeface="Cambria Math" panose="02040503050406030204" pitchFamily="18" charset="0"/>
                                    </a:rPr>
                                  </m:ctrlPr>
                                </m:naryPr>
                                <m:sub>
                                  <m:r>
                                    <m:rPr>
                                      <m:sty m:val="p"/>
                                      <m:brk m:alnAt="23"/>
                                    </m:rPr>
                                    <a:rPr lang="en-US" altLang="zh-CN" sz="1400" i="1" dirty="0">
                                      <a:latin typeface="Cambria Math" panose="02040503050406030204" pitchFamily="18" charset="0"/>
                                    </a:rPr>
                                    <m:t>i</m:t>
                                  </m:r>
                                </m:sub>
                                <m:sup>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𝑁</m:t>
                                      </m:r>
                                    </m:e>
                                    <m:sub>
                                      <m:r>
                                        <a:rPr lang="en-US" altLang="zh-CN" sz="1400" b="0" i="1" dirty="0" smtClean="0">
                                          <a:latin typeface="Cambria Math" panose="02040503050406030204" pitchFamily="18" charset="0"/>
                                        </a:rPr>
                                        <m:t>𝑜𝑝𝑠</m:t>
                                      </m:r>
                                    </m:sub>
                                  </m:sSub>
                                </m:sup>
                                <m:e>
                                  <m:sSub>
                                    <m:sSubPr>
                                      <m:ctrlPr>
                                        <a:rPr lang="en-US" altLang="zh-CN" sz="1400" b="0" i="1" dirty="0" smtClean="0">
                                          <a:latin typeface="Cambria Math" panose="02040503050406030204" pitchFamily="18" charset="0"/>
                                        </a:rPr>
                                      </m:ctrlPr>
                                    </m:sSubPr>
                                    <m:e>
                                      <m:r>
                                        <a:rPr lang="en-US" altLang="zh-CN" sz="1400" i="1" dirty="0">
                                          <a:latin typeface="Cambria Math" panose="02040503050406030204" pitchFamily="18" charset="0"/>
                                        </a:rPr>
                                        <m:t>𝑐𝑦𝑐𝑙𝑒𝑠</m:t>
                                      </m:r>
                                    </m:e>
                                    <m:sub>
                                      <m:r>
                                        <a:rPr lang="en-US" altLang="zh-CN" sz="1400" b="0" i="1" dirty="0" smtClean="0">
                                          <a:latin typeface="Cambria Math" panose="02040503050406030204" pitchFamily="18" charset="0"/>
                                        </a:rPr>
                                        <m:t>𝑖</m:t>
                                      </m:r>
                                    </m:sub>
                                  </m:sSub>
                                </m:e>
                              </m:nary>
                            </m:den>
                          </m:f>
                        </m:e>
                      </m:d>
                      <m:r>
                        <a:rPr lang="en-US" altLang="zh-CN" sz="1400" b="0" i="1" dirty="0" smtClean="0">
                          <a:latin typeface="Cambria Math" panose="02040503050406030204" pitchFamily="18" charset="0"/>
                          <a:ea typeface="Cambria Math" panose="02040503050406030204" pitchFamily="18" charset="0"/>
                        </a:rPr>
                        <m:t>×100%</m:t>
                      </m:r>
                    </m:oMath>
                  </m:oMathPara>
                </a14:m>
                <a:endParaRPr lang="zh-CN" altLang="en-US" sz="1400" dirty="0"/>
              </a:p>
            </p:txBody>
          </p:sp>
        </mc:Choice>
        <mc:Fallback xmlns="">
          <p:sp>
            <p:nvSpPr>
              <p:cNvPr id="8" name="文本框 7">
                <a:extLst>
                  <a:ext uri="{FF2B5EF4-FFF2-40B4-BE49-F238E27FC236}">
                    <a16:creationId xmlns:a16="http://schemas.microsoft.com/office/drawing/2014/main" id="{A0B07C72-8557-2931-D266-88AF68802B37}"/>
                  </a:ext>
                </a:extLst>
              </p:cNvPr>
              <p:cNvSpPr txBox="1">
                <a:spLocks noRot="1" noChangeAspect="1" noMove="1" noResize="1" noEditPoints="1" noAdjustHandles="1" noChangeArrowheads="1" noChangeShapeType="1" noTextEdit="1"/>
              </p:cNvSpPr>
              <p:nvPr/>
            </p:nvSpPr>
            <p:spPr>
              <a:xfrm>
                <a:off x="9660308" y="3630197"/>
                <a:ext cx="2449398" cy="740652"/>
              </a:xfrm>
              <a:prstGeom prst="rect">
                <a:avLst/>
              </a:prstGeom>
              <a:blipFill>
                <a:blip r:embed="rId3"/>
                <a:stretch>
                  <a:fillRect l="-1741" r="-746" b="-702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0803DD5C-5430-0A82-E020-3E21F43B3772}"/>
                  </a:ext>
                </a:extLst>
              </p:cNvPr>
              <p:cNvSpPr txBox="1"/>
              <p:nvPr/>
            </p:nvSpPr>
            <p:spPr>
              <a:xfrm>
                <a:off x="9660308" y="1817543"/>
                <a:ext cx="2554474" cy="52976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1400" dirty="0">
                          <a:latin typeface="Cambria Math" panose="02040503050406030204" pitchFamily="18" charset="0"/>
                        </a:rPr>
                        <m:t>A</m:t>
                      </m:r>
                      <m:r>
                        <m:rPr>
                          <m:sty m:val="p"/>
                        </m:rPr>
                        <a:rPr lang="en-US" altLang="zh-CN" sz="1400" b="0" i="0" dirty="0" smtClean="0">
                          <a:latin typeface="Cambria Math" panose="02040503050406030204" pitchFamily="18" charset="0"/>
                        </a:rPr>
                        <m:t>vg</m:t>
                      </m:r>
                      <m:d>
                        <m:dPr>
                          <m:ctrlPr>
                            <a:rPr lang="en-US" altLang="zh-CN" sz="1400" b="0" i="1" dirty="0" smtClean="0">
                              <a:latin typeface="Cambria Math" panose="02040503050406030204" pitchFamily="18" charset="0"/>
                            </a:rPr>
                          </m:ctrlPr>
                        </m:dPr>
                        <m:e>
                          <m:r>
                            <m:rPr>
                              <m:sty m:val="p"/>
                            </m:rPr>
                            <a:rPr lang="en-US" altLang="zh-CN" sz="1400" b="0" i="0" dirty="0" smtClean="0">
                              <a:latin typeface="Cambria Math" panose="02040503050406030204" pitchFamily="18" charset="0"/>
                            </a:rPr>
                            <m:t>cycles</m:t>
                          </m:r>
                        </m:e>
                      </m:d>
                      <m:r>
                        <a:rPr lang="en-US" altLang="zh-CN" sz="1400" i="0" dirty="0" smtClean="0">
                          <a:latin typeface="Cambria Math" panose="02040503050406030204" pitchFamily="18" charset="0"/>
                        </a:rPr>
                        <m:t>=</m:t>
                      </m:r>
                      <m:d>
                        <m:dPr>
                          <m:ctrlPr>
                            <a:rPr lang="en-US" altLang="zh-CN" sz="1400" b="0" i="1" dirty="0" smtClean="0">
                              <a:latin typeface="Cambria Math" panose="02040503050406030204" pitchFamily="18" charset="0"/>
                            </a:rPr>
                          </m:ctrlPr>
                        </m:dPr>
                        <m:e>
                          <m:f>
                            <m:fPr>
                              <m:ctrlPr>
                                <a:rPr lang="en-US" altLang="zh-CN" sz="1400" i="1" dirty="0" smtClean="0">
                                  <a:latin typeface="Cambria Math" panose="02040503050406030204" pitchFamily="18" charset="0"/>
                                </a:rPr>
                              </m:ctrlPr>
                            </m:fPr>
                            <m:num>
                              <m:sSub>
                                <m:sSubPr>
                                  <m:ctrlPr>
                                    <a:rPr lang="en-US" altLang="zh-CN" sz="1400" b="0" i="1" dirty="0" smtClean="0">
                                      <a:latin typeface="Cambria Math" panose="02040503050406030204" pitchFamily="18" charset="0"/>
                                    </a:rPr>
                                  </m:ctrlPr>
                                </m:sSubPr>
                                <m:e>
                                  <m:nary>
                                    <m:naryPr>
                                      <m:chr m:val="∑"/>
                                      <m:ctrlPr>
                                        <a:rPr lang="en-US" altLang="zh-CN" sz="1400" i="1" dirty="0">
                                          <a:latin typeface="Cambria Math" panose="02040503050406030204" pitchFamily="18" charset="0"/>
                                        </a:rPr>
                                      </m:ctrlPr>
                                    </m:naryPr>
                                    <m:sub>
                                      <m:r>
                                        <m:rPr>
                                          <m:sty m:val="p"/>
                                          <m:brk m:alnAt="23"/>
                                        </m:rPr>
                                        <a:rPr lang="en-US" altLang="zh-CN" sz="1400" i="1" dirty="0">
                                          <a:latin typeface="Cambria Math" panose="02040503050406030204" pitchFamily="18" charset="0"/>
                                        </a:rPr>
                                        <m:t>i</m:t>
                                      </m:r>
                                    </m:sub>
                                    <m:sup>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𝑁</m:t>
                                          </m:r>
                                        </m:e>
                                        <m:sub>
                                          <m:r>
                                            <a:rPr lang="en-US" altLang="zh-CN" sz="1400" i="1" dirty="0">
                                              <a:latin typeface="Cambria Math" panose="02040503050406030204" pitchFamily="18" charset="0"/>
                                            </a:rPr>
                                            <m:t>𝑡𝑜𝑘𝑒𝑛𝑠</m:t>
                                          </m:r>
                                        </m:sub>
                                      </m:sSub>
                                    </m:sup>
                                    <m:e>
                                      <m:r>
                                        <a:rPr lang="en-US" altLang="zh-CN" sz="1400" i="1" dirty="0">
                                          <a:latin typeface="Cambria Math" panose="02040503050406030204" pitchFamily="18" charset="0"/>
                                        </a:rPr>
                                        <m:t>𝑐𝑦𝑐𝑙𝑒𝑠</m:t>
                                      </m:r>
                                    </m:e>
                                  </m:nary>
                                </m:e>
                                <m:sub>
                                  <m:r>
                                    <a:rPr lang="en-US" altLang="zh-CN" sz="1400" b="0" i="1" dirty="0" smtClean="0">
                                      <a:latin typeface="Cambria Math" panose="02040503050406030204" pitchFamily="18" charset="0"/>
                                    </a:rPr>
                                    <m:t>𝑖</m:t>
                                  </m:r>
                                </m:sub>
                              </m:sSub>
                            </m:num>
                            <m:den>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𝑁</m:t>
                                  </m:r>
                                </m:e>
                                <m:sub>
                                  <m:r>
                                    <a:rPr lang="en-US" altLang="zh-CN" sz="1400" b="0" i="1" dirty="0" smtClean="0">
                                      <a:latin typeface="Cambria Math" panose="02040503050406030204" pitchFamily="18" charset="0"/>
                                    </a:rPr>
                                    <m:t>𝑡𝑜𝑘𝑒𝑛𝑠</m:t>
                                  </m:r>
                                </m:sub>
                              </m:sSub>
                            </m:den>
                          </m:f>
                        </m:e>
                      </m:d>
                    </m:oMath>
                  </m:oMathPara>
                </a14:m>
                <a:endParaRPr lang="zh-CN" altLang="en-US" sz="1400" dirty="0"/>
              </a:p>
            </p:txBody>
          </p:sp>
        </mc:Choice>
        <mc:Fallback xmlns="">
          <p:sp>
            <p:nvSpPr>
              <p:cNvPr id="9" name="文本框 8">
                <a:extLst>
                  <a:ext uri="{FF2B5EF4-FFF2-40B4-BE49-F238E27FC236}">
                    <a16:creationId xmlns:a16="http://schemas.microsoft.com/office/drawing/2014/main" id="{0803DD5C-5430-0A82-E020-3E21F43B3772}"/>
                  </a:ext>
                </a:extLst>
              </p:cNvPr>
              <p:cNvSpPr txBox="1">
                <a:spLocks noRot="1" noChangeAspect="1" noMove="1" noResize="1" noEditPoints="1" noAdjustHandles="1" noChangeArrowheads="1" noChangeShapeType="1" noTextEdit="1"/>
              </p:cNvSpPr>
              <p:nvPr/>
            </p:nvSpPr>
            <p:spPr>
              <a:xfrm>
                <a:off x="9660308" y="1817543"/>
                <a:ext cx="2554474" cy="52976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EB98B626-BA4F-2A72-BDA5-F403C1CBDD78}"/>
                  </a:ext>
                </a:extLst>
              </p:cNvPr>
              <p:cNvSpPr txBox="1"/>
              <p:nvPr/>
            </p:nvSpPr>
            <p:spPr>
              <a:xfrm>
                <a:off x="9578014" y="1041241"/>
                <a:ext cx="2531692" cy="52193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CN" altLang="en-US" sz="1400" i="1" dirty="0" smtClean="0">
                          <a:latin typeface="Cambria Math" panose="02040503050406030204" pitchFamily="18" charset="0"/>
                        </a:rPr>
                        <m:t>平均</m:t>
                      </m:r>
                      <m:r>
                        <a:rPr lang="en-US" altLang="zh-CN" sz="1400" i="1" dirty="0">
                          <a:latin typeface="Cambria Math" panose="02040503050406030204" pitchFamily="18" charset="0"/>
                        </a:rPr>
                        <m:t>𝑐𝑦𝑐𝑙𝑒</m:t>
                      </m:r>
                      <m:r>
                        <a:rPr lang="zh-CN" altLang="en-US" sz="1400" i="1" dirty="0" smtClean="0">
                          <a:latin typeface="Cambria Math" panose="02040503050406030204" pitchFamily="18" charset="0"/>
                        </a:rPr>
                        <m:t>数</m:t>
                      </m:r>
                      <m:r>
                        <a:rPr lang="zh-CN" altLang="en-US" sz="1400" i="1" dirty="0">
                          <a:latin typeface="Cambria Math" panose="02040503050406030204" pitchFamily="18" charset="0"/>
                        </a:rPr>
                        <m:t>的</m:t>
                      </m:r>
                      <m:r>
                        <a:rPr lang="zh-CN" altLang="en-US" sz="1400" i="1" dirty="0" smtClean="0">
                          <a:latin typeface="Cambria Math" panose="02040503050406030204" pitchFamily="18" charset="0"/>
                        </a:rPr>
                        <m:t>计算</m:t>
                      </m:r>
                      <m:r>
                        <a:rPr lang="zh-CN" altLang="en-US" sz="1400" i="1" dirty="0">
                          <a:latin typeface="Cambria Math" panose="02040503050406030204" pitchFamily="18" charset="0"/>
                        </a:rPr>
                        <m:t>方法</m:t>
                      </m:r>
                      <m:r>
                        <a:rPr lang="zh-CN" altLang="en-US" sz="1400" i="1" dirty="0" smtClean="0">
                          <a:latin typeface="Cambria Math" panose="02040503050406030204" pitchFamily="18" charset="0"/>
                        </a:rPr>
                        <m:t>如下</m:t>
                      </m:r>
                      <m:r>
                        <a:rPr lang="zh-CN" altLang="en-US" sz="1400" i="1" dirty="0">
                          <a:latin typeface="Cambria Math" panose="02040503050406030204" pitchFamily="18" charset="0"/>
                        </a:rPr>
                        <m:t>，</m:t>
                      </m:r>
                    </m:oMath>
                  </m:oMathPara>
                </a14:m>
                <a:endParaRPr lang="en-US" altLang="zh-CN" sz="14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zh-CN" altLang="en-US" sz="1400" i="1" dirty="0" smtClean="0">
                          <a:latin typeface="Cambria Math" panose="02040503050406030204" pitchFamily="18" charset="0"/>
                        </a:rPr>
                        <m:t>其中</m:t>
                      </m:r>
                      <m:sSub>
                        <m:sSubPr>
                          <m:ctrlPr>
                            <a:rPr lang="en-US" altLang="zh-CN" sz="1400" i="1" dirty="0" smtClean="0">
                              <a:latin typeface="Cambria Math" panose="02040503050406030204" pitchFamily="18" charset="0"/>
                            </a:rPr>
                          </m:ctrlPr>
                        </m:sSubPr>
                        <m:e>
                          <m:r>
                            <a:rPr lang="en-US" altLang="zh-CN" sz="1400" i="1" dirty="0" smtClean="0">
                              <a:latin typeface="Cambria Math" panose="02040503050406030204" pitchFamily="18" charset="0"/>
                            </a:rPr>
                            <m:t>𝑁</m:t>
                          </m:r>
                        </m:e>
                        <m:sub>
                          <m:r>
                            <a:rPr lang="en-US" altLang="zh-CN" sz="1400" i="1" dirty="0" smtClean="0">
                              <a:latin typeface="Cambria Math" panose="02040503050406030204" pitchFamily="18" charset="0"/>
                            </a:rPr>
                            <m:t>𝑡𝑜𝑘𝑒𝑛𝑠</m:t>
                          </m:r>
                        </m:sub>
                      </m:sSub>
                      <m:r>
                        <m:rPr>
                          <m:nor/>
                        </m:rPr>
                        <a:rPr lang="zh-CN" altLang="en-US" sz="1400" dirty="0"/>
                        <m:t>是</m:t>
                      </m:r>
                      <m:r>
                        <m:rPr>
                          <m:nor/>
                        </m:rPr>
                        <a:rPr lang="en-US" altLang="zh-CN" sz="1400" dirty="0"/>
                        <m:t>token</m:t>
                      </m:r>
                      <m:r>
                        <m:rPr>
                          <m:nor/>
                        </m:rPr>
                        <a:rPr lang="zh-CN" altLang="en-US" sz="1400" dirty="0"/>
                        <m:t>的数量</m:t>
                      </m:r>
                    </m:oMath>
                  </m:oMathPara>
                </a14:m>
                <a:endParaRPr lang="zh-CN" altLang="en-US" sz="1400" dirty="0"/>
              </a:p>
            </p:txBody>
          </p:sp>
        </mc:Choice>
        <mc:Fallback xmlns="">
          <p:sp>
            <p:nvSpPr>
              <p:cNvPr id="10" name="文本框 9">
                <a:extLst>
                  <a:ext uri="{FF2B5EF4-FFF2-40B4-BE49-F238E27FC236}">
                    <a16:creationId xmlns:a16="http://schemas.microsoft.com/office/drawing/2014/main" id="{EB98B626-BA4F-2A72-BDA5-F403C1CBDD78}"/>
                  </a:ext>
                </a:extLst>
              </p:cNvPr>
              <p:cNvSpPr txBox="1">
                <a:spLocks noRot="1" noChangeAspect="1" noMove="1" noResize="1" noEditPoints="1" noAdjustHandles="1" noChangeArrowheads="1" noChangeShapeType="1" noTextEdit="1"/>
              </p:cNvSpPr>
              <p:nvPr/>
            </p:nvSpPr>
            <p:spPr>
              <a:xfrm>
                <a:off x="9578014" y="1041241"/>
                <a:ext cx="2531692" cy="521938"/>
              </a:xfrm>
              <a:prstGeom prst="rect">
                <a:avLst/>
              </a:prstGeom>
              <a:blipFill>
                <a:blip r:embed="rId5"/>
                <a:stretch>
                  <a:fillRect b="-23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6A707C40-CB35-8AE0-1D88-D8C59B94324B}"/>
                  </a:ext>
                </a:extLst>
              </p:cNvPr>
              <p:cNvSpPr txBox="1"/>
              <p:nvPr/>
            </p:nvSpPr>
            <p:spPr>
              <a:xfrm>
                <a:off x="9619161" y="2831068"/>
                <a:ext cx="2351166" cy="5447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CN" altLang="en-US" sz="1400" i="1" dirty="0" smtClean="0">
                          <a:latin typeface="Cambria Math" panose="02040503050406030204" pitchFamily="18" charset="0"/>
                        </a:rPr>
                        <m:t>平均</m:t>
                      </m:r>
                      <m:r>
                        <a:rPr lang="en-US" altLang="zh-CN" sz="1400" i="1" dirty="0">
                          <a:latin typeface="Cambria Math" panose="02040503050406030204" pitchFamily="18" charset="0"/>
                        </a:rPr>
                        <m:t>𝑐𝑦𝑐𝑙𝑒</m:t>
                      </m:r>
                      <m:r>
                        <a:rPr lang="zh-CN" altLang="en-US" sz="1400" i="1" dirty="0" smtClean="0">
                          <a:latin typeface="Cambria Math" panose="02040503050406030204" pitchFamily="18" charset="0"/>
                        </a:rPr>
                        <m:t>占比</m:t>
                      </m:r>
                      <m:r>
                        <a:rPr lang="zh-CN" altLang="en-US" sz="1400" i="1" dirty="0">
                          <a:latin typeface="Cambria Math" panose="02040503050406030204" pitchFamily="18" charset="0"/>
                        </a:rPr>
                        <m:t>的</m:t>
                      </m:r>
                      <m:r>
                        <a:rPr lang="zh-CN" altLang="en-US" sz="1400" i="1" dirty="0" smtClean="0">
                          <a:latin typeface="Cambria Math" panose="02040503050406030204" pitchFamily="18" charset="0"/>
                        </a:rPr>
                        <m:t>计算</m:t>
                      </m:r>
                      <m:r>
                        <a:rPr lang="zh-CN" altLang="en-US" sz="1400" i="1" dirty="0">
                          <a:latin typeface="Cambria Math" panose="02040503050406030204" pitchFamily="18" charset="0"/>
                        </a:rPr>
                        <m:t>方法</m:t>
                      </m:r>
                      <m:r>
                        <a:rPr lang="zh-CN" altLang="en-US" sz="1400" i="1" dirty="0" smtClean="0">
                          <a:latin typeface="Cambria Math" panose="02040503050406030204" pitchFamily="18" charset="0"/>
                        </a:rPr>
                        <m:t>如下</m:t>
                      </m:r>
                      <m:r>
                        <a:rPr lang="zh-CN" altLang="en-US" sz="1400" i="1" dirty="0">
                          <a:latin typeface="Cambria Math" panose="02040503050406030204" pitchFamily="18" charset="0"/>
                        </a:rPr>
                        <m:t>，</m:t>
                      </m:r>
                    </m:oMath>
                  </m:oMathPara>
                </a14:m>
                <a:endParaRPr lang="en-US" altLang="zh-CN" sz="14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zh-CN" altLang="en-US" sz="1400" i="1" dirty="0" smtClean="0">
                          <a:latin typeface="Cambria Math" panose="02040503050406030204" pitchFamily="18" charset="0"/>
                        </a:rPr>
                        <m:t>其中</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𝑁</m:t>
                          </m:r>
                        </m:e>
                        <m:sub>
                          <m:r>
                            <m:rPr>
                              <m:sty m:val="p"/>
                            </m:rPr>
                            <a:rPr lang="en-US" altLang="zh-CN" sz="1400" i="1" dirty="0">
                              <a:latin typeface="Cambria Math" panose="02040503050406030204" pitchFamily="18" charset="0"/>
                            </a:rPr>
                            <m:t>ops</m:t>
                          </m:r>
                        </m:sub>
                      </m:sSub>
                      <m:r>
                        <m:rPr>
                          <m:nor/>
                        </m:rPr>
                        <a:rPr lang="zh-CN" altLang="en-US" sz="1400" dirty="0"/>
                        <m:t>是</m:t>
                      </m:r>
                      <m:r>
                        <a:rPr lang="zh-CN" altLang="en-US" sz="1400" i="1" dirty="0">
                          <a:latin typeface="Cambria Math" panose="02040503050406030204" pitchFamily="18" charset="0"/>
                        </a:rPr>
                        <m:t>算子</m:t>
                      </m:r>
                      <m:r>
                        <m:rPr>
                          <m:nor/>
                        </m:rPr>
                        <a:rPr lang="zh-CN" altLang="en-US" sz="1400" dirty="0"/>
                        <m:t>的数量</m:t>
                      </m:r>
                    </m:oMath>
                  </m:oMathPara>
                </a14:m>
                <a:endParaRPr lang="zh-CN" altLang="en-US" sz="1400" dirty="0"/>
              </a:p>
            </p:txBody>
          </p:sp>
        </mc:Choice>
        <mc:Fallback xmlns="">
          <p:sp>
            <p:nvSpPr>
              <p:cNvPr id="12" name="文本框 11">
                <a:extLst>
                  <a:ext uri="{FF2B5EF4-FFF2-40B4-BE49-F238E27FC236}">
                    <a16:creationId xmlns:a16="http://schemas.microsoft.com/office/drawing/2014/main" id="{6A707C40-CB35-8AE0-1D88-D8C59B94324B}"/>
                  </a:ext>
                </a:extLst>
              </p:cNvPr>
              <p:cNvSpPr txBox="1">
                <a:spLocks noRot="1" noChangeAspect="1" noMove="1" noResize="1" noEditPoints="1" noAdjustHandles="1" noChangeArrowheads="1" noChangeShapeType="1" noTextEdit="1"/>
              </p:cNvSpPr>
              <p:nvPr/>
            </p:nvSpPr>
            <p:spPr>
              <a:xfrm>
                <a:off x="9619161" y="2831068"/>
                <a:ext cx="2351166" cy="544765"/>
              </a:xfrm>
              <a:prstGeom prst="rect">
                <a:avLst/>
              </a:prstGeom>
              <a:blipFill>
                <a:blip r:embed="rId6"/>
                <a:stretch>
                  <a:fillRect r="-12694"/>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EA9E0DCA-7265-D4A4-9AEB-BA62D059D03D}"/>
              </a:ext>
            </a:extLst>
          </p:cNvPr>
          <p:cNvSpPr txBox="1"/>
          <p:nvPr/>
        </p:nvSpPr>
        <p:spPr>
          <a:xfrm>
            <a:off x="9721116" y="4763491"/>
            <a:ext cx="2388589" cy="1169551"/>
          </a:xfrm>
          <a:prstGeom prst="rect">
            <a:avLst/>
          </a:prstGeom>
          <a:noFill/>
        </p:spPr>
        <p:txBody>
          <a:bodyPr wrap="square" rtlCol="0">
            <a:spAutoFit/>
          </a:bodyPr>
          <a:lstStyle/>
          <a:p>
            <a:r>
              <a:rPr lang="zh-CN" altLang="en-US" sz="1400" dirty="0"/>
              <a:t>当前</a:t>
            </a:r>
            <a:r>
              <a:rPr lang="zh-CN" altLang="en-US" sz="1400" b="1" dirty="0"/>
              <a:t>矩阵乘算子</a:t>
            </a:r>
            <a:r>
              <a:rPr lang="zh-CN" altLang="en-US" sz="1400" dirty="0"/>
              <a:t>为用时占比最高的算子，其中标量版本的矩阵乘算子占比比使用矩阵核的矩阵乘算子时间占比少</a:t>
            </a:r>
            <a:r>
              <a:rPr lang="en-US" altLang="zh-CN" sz="1400" dirty="0"/>
              <a:t>13%</a:t>
            </a:r>
            <a:endParaRPr lang="zh-CN" altLang="en-US" sz="1400" dirty="0"/>
          </a:p>
        </p:txBody>
      </p:sp>
    </p:spTree>
    <p:extLst>
      <p:ext uri="{BB962C8B-B14F-4D97-AF65-F5344CB8AC3E}">
        <p14:creationId xmlns:p14="http://schemas.microsoft.com/office/powerpoint/2010/main" val="1552195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27BA748-7016-0186-B95D-66068702C550}"/>
              </a:ext>
            </a:extLst>
          </p:cNvPr>
          <p:cNvSpPr txBox="1"/>
          <p:nvPr/>
        </p:nvSpPr>
        <p:spPr>
          <a:xfrm>
            <a:off x="563418" y="397164"/>
            <a:ext cx="1242456" cy="646331"/>
          </a:xfrm>
          <a:prstGeom prst="rect">
            <a:avLst/>
          </a:prstGeom>
          <a:noFill/>
        </p:spPr>
        <p:txBody>
          <a:bodyPr wrap="none" rtlCol="0">
            <a:spAutoFit/>
          </a:bodyPr>
          <a:lstStyle/>
          <a:p>
            <a:r>
              <a:rPr lang="en-US" altLang="zh-CN" dirty="0"/>
              <a:t>Prefill</a:t>
            </a:r>
            <a:r>
              <a:rPr lang="zh-CN" altLang="en-US" dirty="0"/>
              <a:t>阶段</a:t>
            </a:r>
            <a:endParaRPr lang="en-US" altLang="zh-CN"/>
          </a:p>
          <a:p>
            <a:endParaRPr lang="zh-CN" altLang="en-US"/>
          </a:p>
        </p:txBody>
      </p:sp>
    </p:spTree>
    <p:extLst>
      <p:ext uri="{BB962C8B-B14F-4D97-AF65-F5344CB8AC3E}">
        <p14:creationId xmlns:p14="http://schemas.microsoft.com/office/powerpoint/2010/main" val="334936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997E415-5FBA-05AA-D604-0553319F9270}"/>
              </a:ext>
            </a:extLst>
          </p:cNvPr>
          <p:cNvSpPr/>
          <p:nvPr/>
        </p:nvSpPr>
        <p:spPr>
          <a:xfrm>
            <a:off x="1532467" y="1278467"/>
            <a:ext cx="1744133" cy="172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32*32</a:t>
            </a:r>
            <a:endParaRPr lang="zh-CN" altLang="en-US" dirty="0"/>
          </a:p>
        </p:txBody>
      </p:sp>
      <p:sp>
        <p:nvSpPr>
          <p:cNvPr id="3" name="矩形 2">
            <a:extLst>
              <a:ext uri="{FF2B5EF4-FFF2-40B4-BE49-F238E27FC236}">
                <a16:creationId xmlns:a16="http://schemas.microsoft.com/office/drawing/2014/main" id="{4BEE0CCD-0591-91F4-A6B7-7812879C8D90}"/>
              </a:ext>
            </a:extLst>
          </p:cNvPr>
          <p:cNvSpPr/>
          <p:nvPr/>
        </p:nvSpPr>
        <p:spPr>
          <a:xfrm>
            <a:off x="4013200" y="1278467"/>
            <a:ext cx="1744133" cy="4402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1*32</a:t>
            </a:r>
            <a:endParaRPr lang="zh-CN" altLang="en-US" dirty="0"/>
          </a:p>
        </p:txBody>
      </p:sp>
      <p:sp>
        <p:nvSpPr>
          <p:cNvPr id="4" name="矩形 3">
            <a:extLst>
              <a:ext uri="{FF2B5EF4-FFF2-40B4-BE49-F238E27FC236}">
                <a16:creationId xmlns:a16="http://schemas.microsoft.com/office/drawing/2014/main" id="{FEE237E6-6157-CF97-DD49-8D28193C90D8}"/>
              </a:ext>
            </a:extLst>
          </p:cNvPr>
          <p:cNvSpPr/>
          <p:nvPr/>
        </p:nvSpPr>
        <p:spPr>
          <a:xfrm rot="16200000">
            <a:off x="6449231" y="1913467"/>
            <a:ext cx="1744133" cy="4402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32*1</a:t>
            </a:r>
            <a:endParaRPr lang="zh-CN" altLang="en-US" dirty="0"/>
          </a:p>
        </p:txBody>
      </p:sp>
      <p:sp>
        <p:nvSpPr>
          <p:cNvPr id="5" name="文本框 4">
            <a:extLst>
              <a:ext uri="{FF2B5EF4-FFF2-40B4-BE49-F238E27FC236}">
                <a16:creationId xmlns:a16="http://schemas.microsoft.com/office/drawing/2014/main" id="{C27F3716-C79E-1DD4-FD6D-A1DAB7BF4B86}"/>
              </a:ext>
            </a:extLst>
          </p:cNvPr>
          <p:cNvSpPr txBox="1"/>
          <p:nvPr/>
        </p:nvSpPr>
        <p:spPr>
          <a:xfrm>
            <a:off x="2235200" y="3244334"/>
            <a:ext cx="328936" cy="369332"/>
          </a:xfrm>
          <a:prstGeom prst="rect">
            <a:avLst/>
          </a:prstGeom>
          <a:noFill/>
        </p:spPr>
        <p:txBody>
          <a:bodyPr wrap="none" rtlCol="0">
            <a:spAutoFit/>
          </a:bodyPr>
          <a:lstStyle/>
          <a:p>
            <a:r>
              <a:rPr lang="en-US" altLang="zh-CN" dirty="0"/>
              <a:t>A</a:t>
            </a:r>
            <a:endParaRPr lang="zh-CN" altLang="en-US" dirty="0"/>
          </a:p>
        </p:txBody>
      </p:sp>
      <p:sp>
        <p:nvSpPr>
          <p:cNvPr id="6" name="文本框 5">
            <a:extLst>
              <a:ext uri="{FF2B5EF4-FFF2-40B4-BE49-F238E27FC236}">
                <a16:creationId xmlns:a16="http://schemas.microsoft.com/office/drawing/2014/main" id="{7DF184B4-C63F-5D82-AE30-7CD8BA4F8B12}"/>
              </a:ext>
            </a:extLst>
          </p:cNvPr>
          <p:cNvSpPr txBox="1"/>
          <p:nvPr/>
        </p:nvSpPr>
        <p:spPr>
          <a:xfrm>
            <a:off x="4656666" y="3244334"/>
            <a:ext cx="325730" cy="369332"/>
          </a:xfrm>
          <a:prstGeom prst="rect">
            <a:avLst/>
          </a:prstGeom>
          <a:noFill/>
        </p:spPr>
        <p:txBody>
          <a:bodyPr wrap="none" rtlCol="0">
            <a:spAutoFit/>
          </a:bodyPr>
          <a:lstStyle/>
          <a:p>
            <a:r>
              <a:rPr lang="en-US" altLang="zh-CN" dirty="0"/>
              <a:t>B</a:t>
            </a:r>
            <a:endParaRPr lang="zh-CN" altLang="en-US" dirty="0"/>
          </a:p>
        </p:txBody>
      </p:sp>
      <p:sp>
        <p:nvSpPr>
          <p:cNvPr id="7" name="文本框 6">
            <a:extLst>
              <a:ext uri="{FF2B5EF4-FFF2-40B4-BE49-F238E27FC236}">
                <a16:creationId xmlns:a16="http://schemas.microsoft.com/office/drawing/2014/main" id="{528EBC0B-556D-0AE4-1139-837730E9CED6}"/>
              </a:ext>
            </a:extLst>
          </p:cNvPr>
          <p:cNvSpPr txBox="1"/>
          <p:nvPr/>
        </p:nvSpPr>
        <p:spPr>
          <a:xfrm>
            <a:off x="7179733" y="3244334"/>
            <a:ext cx="314510" cy="369332"/>
          </a:xfrm>
          <a:prstGeom prst="rect">
            <a:avLst/>
          </a:prstGeom>
          <a:noFill/>
        </p:spPr>
        <p:txBody>
          <a:bodyPr wrap="none" rtlCol="0">
            <a:spAutoFit/>
          </a:bodyPr>
          <a:lstStyle/>
          <a:p>
            <a:r>
              <a:rPr lang="en-US" altLang="zh-CN" dirty="0"/>
              <a:t>C</a:t>
            </a:r>
            <a:endParaRPr lang="zh-CN" altLang="en-US" dirty="0"/>
          </a:p>
        </p:txBody>
      </p:sp>
    </p:spTree>
    <p:extLst>
      <p:ext uri="{BB962C8B-B14F-4D97-AF65-F5344CB8AC3E}">
        <p14:creationId xmlns:p14="http://schemas.microsoft.com/office/powerpoint/2010/main" val="172171882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Cambria Math"/>
        <a:ea typeface="微软雅黑"/>
        <a:cs typeface=""/>
      </a:majorFont>
      <a:minorFont>
        <a:latin typeface="Cambria Math"/>
        <a:ea typeface="Cambria Math"/>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1487</TotalTime>
  <Words>605</Words>
  <Application>Microsoft Office PowerPoint</Application>
  <PresentationFormat>宽屏</PresentationFormat>
  <Paragraphs>240</Paragraphs>
  <Slides>5</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5</vt:i4>
      </vt:variant>
    </vt:vector>
  </HeadingPairs>
  <TitlesOfParts>
    <vt:vector size="11" baseType="lpstr">
      <vt:lpstr>等线</vt:lpstr>
      <vt:lpstr>宋体</vt:lpstr>
      <vt:lpstr>Arial</vt:lpstr>
      <vt:lpstr>Cambria Math</vt:lpstr>
      <vt:lpstr>Wingdings</vt:lpstr>
      <vt:lpstr>Office 主题​​</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xl zhao</dc:creator>
  <cp:lastModifiedBy>xl zhao</cp:lastModifiedBy>
  <cp:revision>44</cp:revision>
  <dcterms:created xsi:type="dcterms:W3CDTF">2026-01-06T06:03:48Z</dcterms:created>
  <dcterms:modified xsi:type="dcterms:W3CDTF">2026-01-13T06:58:16Z</dcterms:modified>
</cp:coreProperties>
</file>